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c2294fe7ac46e7" /><Relationship Type="http://schemas.openxmlformats.org/officeDocument/2006/relationships/extended-properties" Target="/docProps/app.xml" Id="R4f8c79dec16e4016" /><Relationship Type="http://schemas.openxmlformats.org/officeDocument/2006/relationships/officeDocument" Target="/ppt/presentation.xml" Id="R157171895c514b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3ffa9c972a403b"/>
  </p:sldMasterIdLst>
  <p:notesMasterIdLst>
    <p:notesMasterId xmlns:r="http://schemas.openxmlformats.org/officeDocument/2006/relationships" r:id="R6046445fc26a4d83"/>
  </p:notesMasterIdLst>
  <p:sldIdLst>
    <p:sldId xmlns:r="http://schemas.openxmlformats.org/officeDocument/2006/relationships" id="256" r:id="R14e61688c27040ff"/>
    <p:sldId xmlns:r="http://schemas.openxmlformats.org/officeDocument/2006/relationships" id="257" r:id="R8cc0f0c99f5c415d"/>
    <p:sldId xmlns:r="http://schemas.openxmlformats.org/officeDocument/2006/relationships" id="258" r:id="R9c9a316559864707"/>
    <p:sldId xmlns:r="http://schemas.openxmlformats.org/officeDocument/2006/relationships" id="259" r:id="R98f4cda155ff4bcf"/>
    <p:sldId xmlns:r="http://schemas.openxmlformats.org/officeDocument/2006/relationships" id="260" r:id="R1d5c4f83851f4e4a"/>
    <p:sldId xmlns:r="http://schemas.openxmlformats.org/officeDocument/2006/relationships" id="261" r:id="R79f35672fe77445d"/>
    <p:sldId xmlns:r="http://schemas.openxmlformats.org/officeDocument/2006/relationships" id="262" r:id="R08566648c4f64326"/>
    <p:sldId xmlns:r="http://schemas.openxmlformats.org/officeDocument/2006/relationships" id="263" r:id="R74bffe1da2f64aa9"/>
    <p:sldId xmlns:r="http://schemas.openxmlformats.org/officeDocument/2006/relationships" id="264" r:id="R5d8d30d0071b4131"/>
    <p:sldId xmlns:r="http://schemas.openxmlformats.org/officeDocument/2006/relationships" id="265" r:id="R6cc4e4ea19c944c5"/>
    <p:sldId xmlns:r="http://schemas.openxmlformats.org/officeDocument/2006/relationships" id="266" r:id="Re3915ff26dea4c3f"/>
    <p:sldId xmlns:r="http://schemas.openxmlformats.org/officeDocument/2006/relationships" id="267" r:id="R07457982e4094fb0"/>
    <p:sldId xmlns:r="http://schemas.openxmlformats.org/officeDocument/2006/relationships" id="268" r:id="Rc843aad50e104230"/>
    <p:sldId xmlns:r="http://schemas.openxmlformats.org/officeDocument/2006/relationships" id="269" r:id="R73493e20880548a7"/>
    <p:sldId xmlns:r="http://schemas.openxmlformats.org/officeDocument/2006/relationships" id="270" r:id="Rd48df2d4cad446be"/>
    <p:sldId xmlns:r="http://schemas.openxmlformats.org/officeDocument/2006/relationships" id="271" r:id="R60e44493961a49a6"/>
    <p:sldId xmlns:r="http://schemas.openxmlformats.org/officeDocument/2006/relationships" id="272" r:id="R6a0cc02d5ae44fb1"/>
    <p:sldId xmlns:r="http://schemas.openxmlformats.org/officeDocument/2006/relationships" id="273" r:id="Rcaed4c759ac04570"/>
    <p:sldId xmlns:r="http://schemas.openxmlformats.org/officeDocument/2006/relationships" id="274" r:id="Re41bf6b38c674e7a"/>
    <p:sldId xmlns:r="http://schemas.openxmlformats.org/officeDocument/2006/relationships" id="275" r:id="R05b045d67cec48cf"/>
    <p:sldId xmlns:r="http://schemas.openxmlformats.org/officeDocument/2006/relationships" id="276" r:id="R4427044800964e60"/>
    <p:sldId xmlns:r="http://schemas.openxmlformats.org/officeDocument/2006/relationships" id="277" r:id="R39604b6a560b4d5c"/>
    <p:sldId xmlns:r="http://schemas.openxmlformats.org/officeDocument/2006/relationships" id="278" r:id="R2aab42a6fd8542ef"/>
    <p:sldId xmlns:r="http://schemas.openxmlformats.org/officeDocument/2006/relationships" id="279" r:id="R4937b6090cbd4272"/>
    <p:sldId xmlns:r="http://schemas.openxmlformats.org/officeDocument/2006/relationships" id="280" r:id="Rffad7222edf94bf4"/>
    <p:sldId xmlns:r="http://schemas.openxmlformats.org/officeDocument/2006/relationships" id="281" r:id="R27f3f58b4a834826"/>
    <p:sldId xmlns:r="http://schemas.openxmlformats.org/officeDocument/2006/relationships" id="282" r:id="Rc5b6d4b594fd4813"/>
    <p:sldId xmlns:r="http://schemas.openxmlformats.org/officeDocument/2006/relationships" id="283" r:id="Rdabb768652b04a72"/>
    <p:sldId xmlns:r="http://schemas.openxmlformats.org/officeDocument/2006/relationships" id="284" r:id="R660a88c733e14889"/>
  </p:sldIdLst>
  <p:sldSz cx="16256000" cy="9144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e12c8e06ff4d42" /><Relationship Type="http://schemas.openxmlformats.org/officeDocument/2006/relationships/slideMaster" Target="/ppt/slideMasters/slideMaster1.xml" Id="R383ffa9c972a403b" /><Relationship Type="http://schemas.openxmlformats.org/officeDocument/2006/relationships/notesMaster" Target="/ppt/notesMasters/notesMaster1.xml" Id="R6046445fc26a4d83" /><Relationship Type="http://schemas.openxmlformats.org/officeDocument/2006/relationships/presProps" Target="/ppt/presProps.xml" Id="Rd9f6d93c1c294d1e" /><Relationship Type="http://schemas.openxmlformats.org/officeDocument/2006/relationships/tableStyles" Target="/ppt/tableStyles.xml" Id="R0d880fed803d4f2e" /><Relationship Type="http://schemas.openxmlformats.org/officeDocument/2006/relationships/slide" Target="/ppt/slides/slide1.xml" Id="R14e61688c27040ff" /><Relationship Type="http://schemas.openxmlformats.org/officeDocument/2006/relationships/slide" Target="/ppt/slides/slide2.xml" Id="R8cc0f0c99f5c415d" /><Relationship Type="http://schemas.openxmlformats.org/officeDocument/2006/relationships/slide" Target="/ppt/slides/slide3.xml" Id="R9c9a316559864707" /><Relationship Type="http://schemas.openxmlformats.org/officeDocument/2006/relationships/slide" Target="/ppt/slides/slide4.xml" Id="R98f4cda155ff4bcf" /><Relationship Type="http://schemas.openxmlformats.org/officeDocument/2006/relationships/slide" Target="/ppt/slides/slide5.xml" Id="R1d5c4f83851f4e4a" /><Relationship Type="http://schemas.openxmlformats.org/officeDocument/2006/relationships/slide" Target="/ppt/slides/slide6.xml" Id="R79f35672fe77445d" /><Relationship Type="http://schemas.openxmlformats.org/officeDocument/2006/relationships/slide" Target="/ppt/slides/slide7.xml" Id="R08566648c4f64326" /><Relationship Type="http://schemas.openxmlformats.org/officeDocument/2006/relationships/slide" Target="/ppt/slides/slide8.xml" Id="R74bffe1da2f64aa9" /><Relationship Type="http://schemas.openxmlformats.org/officeDocument/2006/relationships/slide" Target="/ppt/slides/slide9.xml" Id="R5d8d30d0071b4131" /><Relationship Type="http://schemas.openxmlformats.org/officeDocument/2006/relationships/slide" Target="/ppt/slides/slide10.xml" Id="R6cc4e4ea19c944c5" /><Relationship Type="http://schemas.openxmlformats.org/officeDocument/2006/relationships/slide" Target="/ppt/slides/slide11.xml" Id="Re3915ff26dea4c3f" /><Relationship Type="http://schemas.openxmlformats.org/officeDocument/2006/relationships/slide" Target="/ppt/slides/slide12.xml" Id="R07457982e4094fb0" /><Relationship Type="http://schemas.openxmlformats.org/officeDocument/2006/relationships/slide" Target="/ppt/slides/slide13.xml" Id="Rc843aad50e104230" /><Relationship Type="http://schemas.openxmlformats.org/officeDocument/2006/relationships/slide" Target="/ppt/slides/slide14.xml" Id="R73493e20880548a7" /><Relationship Type="http://schemas.openxmlformats.org/officeDocument/2006/relationships/slide" Target="/ppt/slides/slide15.xml" Id="Rd48df2d4cad446be" /><Relationship Type="http://schemas.openxmlformats.org/officeDocument/2006/relationships/slide" Target="/ppt/slides/slide16.xml" Id="R60e44493961a49a6" /><Relationship Type="http://schemas.openxmlformats.org/officeDocument/2006/relationships/slide" Target="/ppt/slides/slide17.xml" Id="R6a0cc02d5ae44fb1" /><Relationship Type="http://schemas.openxmlformats.org/officeDocument/2006/relationships/slide" Target="/ppt/slides/slide18.xml" Id="Rcaed4c759ac04570" /><Relationship Type="http://schemas.openxmlformats.org/officeDocument/2006/relationships/slide" Target="/ppt/slides/slide19.xml" Id="Re41bf6b38c674e7a" /><Relationship Type="http://schemas.openxmlformats.org/officeDocument/2006/relationships/slide" Target="/ppt/slides/slide20.xml" Id="R05b045d67cec48cf" /><Relationship Type="http://schemas.openxmlformats.org/officeDocument/2006/relationships/slide" Target="/ppt/slides/slide21.xml" Id="R4427044800964e60" /><Relationship Type="http://schemas.openxmlformats.org/officeDocument/2006/relationships/slide" Target="/ppt/slides/slide22.xml" Id="R39604b6a560b4d5c" /><Relationship Type="http://schemas.openxmlformats.org/officeDocument/2006/relationships/slide" Target="/ppt/slides/slide23.xml" Id="R2aab42a6fd8542ef" /><Relationship Type="http://schemas.openxmlformats.org/officeDocument/2006/relationships/slide" Target="/ppt/slides/slide24.xml" Id="R4937b6090cbd4272" /><Relationship Type="http://schemas.openxmlformats.org/officeDocument/2006/relationships/slide" Target="/ppt/slides/slide25.xml" Id="Rffad7222edf94bf4" /><Relationship Type="http://schemas.openxmlformats.org/officeDocument/2006/relationships/slide" Target="/ppt/slides/slide26.xml" Id="R27f3f58b4a834826" /><Relationship Type="http://schemas.openxmlformats.org/officeDocument/2006/relationships/slide" Target="/ppt/slides/slide27.xml" Id="Rc5b6d4b594fd4813" /><Relationship Type="http://schemas.openxmlformats.org/officeDocument/2006/relationships/slide" Target="/ppt/slides/slide28.xml" Id="Rdabb768652b04a72" /><Relationship Type="http://schemas.openxmlformats.org/officeDocument/2006/relationships/slide" Target="/ppt/slides/slide29.xml" Id="R660a88c733e148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cb05a2e9a54a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itle &amp; Subtitle">
  <a:themeElements>
    <a:clrScheme name="ChatGPT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3f45c373f14b47" /><Relationship Type="http://schemas.openxmlformats.org/officeDocument/2006/relationships/notesMaster" Target="/ppt/notesMasters/notesMaster1.xml" Id="Rd1fb079370614a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3edd0b9f0149e5" /><Relationship Type="http://schemas.openxmlformats.org/officeDocument/2006/relationships/notesMaster" Target="/ppt/notesMasters/notesMaster1.xml" Id="Re1d3bcac6a1b45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02d7d88a8b4c5f" /><Relationship Type="http://schemas.openxmlformats.org/officeDocument/2006/relationships/notesMaster" Target="/ppt/notesMasters/notesMaster1.xml" Id="R4f1f653240534a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df347edc6d4977" /><Relationship Type="http://schemas.openxmlformats.org/officeDocument/2006/relationships/notesMaster" Target="/ppt/notesMasters/notesMaster1.xml" Id="R33a5efa417224b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a2ed20638d43f4" /><Relationship Type="http://schemas.openxmlformats.org/officeDocument/2006/relationships/notesMaster" Target="/ppt/notesMasters/notesMaster1.xml" Id="R95161ede916644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157e89f9b641f8" /><Relationship Type="http://schemas.openxmlformats.org/officeDocument/2006/relationships/notesMaster" Target="/ppt/notesMasters/notesMaster1.xml" Id="Rfc4ebacbc7384e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0133af115c4e1d" /><Relationship Type="http://schemas.openxmlformats.org/officeDocument/2006/relationships/notesMaster" Target="/ppt/notesMasters/notesMaster1.xml" Id="R51e185e05b4d41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9a836781424517" /><Relationship Type="http://schemas.openxmlformats.org/officeDocument/2006/relationships/notesMaster" Target="/ppt/notesMasters/notesMaster1.xml" Id="R603d43ecdc3c4f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c3c9ac722247d6" /><Relationship Type="http://schemas.openxmlformats.org/officeDocument/2006/relationships/notesMaster" Target="/ppt/notesMasters/notesMaster1.xml" Id="R439771156c704d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37998b70294d89" /><Relationship Type="http://schemas.openxmlformats.org/officeDocument/2006/relationships/notesMaster" Target="/ppt/notesMasters/notesMaster1.xml" Id="R2779d91bb0b540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22bafcba5f435b" /><Relationship Type="http://schemas.openxmlformats.org/officeDocument/2006/relationships/notesMaster" Target="/ppt/notesMasters/notesMaster1.xml" Id="R318937f684814b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eefd9437a54e26" /><Relationship Type="http://schemas.openxmlformats.org/officeDocument/2006/relationships/notesMaster" Target="/ppt/notesMasters/notesMaster1.xml" Id="Reff064031ab24e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66fb2c907044c6" /><Relationship Type="http://schemas.openxmlformats.org/officeDocument/2006/relationships/notesMaster" Target="/ppt/notesMasters/notesMaster1.xml" Id="R5aefc308912349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61a3f651ef480b" /><Relationship Type="http://schemas.openxmlformats.org/officeDocument/2006/relationships/notesMaster" Target="/ppt/notesMasters/notesMaster1.xml" Id="Rf65a4e5b8fc043e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e60ff2a47d43b4" /><Relationship Type="http://schemas.openxmlformats.org/officeDocument/2006/relationships/notesMaster" Target="/ppt/notesMasters/notesMaster1.xml" Id="Ra2f1895abd234b7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e9c8164ba8a4ecb" /><Relationship Type="http://schemas.openxmlformats.org/officeDocument/2006/relationships/notesMaster" Target="/ppt/notesMasters/notesMaster1.xml" Id="R5ad5f80dbcc043e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6ea59fdf63e4562" /><Relationship Type="http://schemas.openxmlformats.org/officeDocument/2006/relationships/notesMaster" Target="/ppt/notesMasters/notesMaster1.xml" Id="R01f0ce25368d4d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bac4b2cd4044527" /><Relationship Type="http://schemas.openxmlformats.org/officeDocument/2006/relationships/notesMaster" Target="/ppt/notesMasters/notesMaster1.xml" Id="R26e7f582127340e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e81aa58ec8a4db8" /><Relationship Type="http://schemas.openxmlformats.org/officeDocument/2006/relationships/notesMaster" Target="/ppt/notesMasters/notesMaster1.xml" Id="R55b52a4c394946e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5160c95e574474f" /><Relationship Type="http://schemas.openxmlformats.org/officeDocument/2006/relationships/notesMaster" Target="/ppt/notesMasters/notesMaster1.xml" Id="R400be93e77eb474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6f5885be0df4be8" /><Relationship Type="http://schemas.openxmlformats.org/officeDocument/2006/relationships/notesMaster" Target="/ppt/notesMasters/notesMaster1.xml" Id="Rfde4c2a26704453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55b4c9611df4583" /><Relationship Type="http://schemas.openxmlformats.org/officeDocument/2006/relationships/notesMaster" Target="/ppt/notesMasters/notesMaster1.xml" Id="R0716c07c620f4bd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73030b872bd4521" /><Relationship Type="http://schemas.openxmlformats.org/officeDocument/2006/relationships/notesMaster" Target="/ppt/notesMasters/notesMaster1.xml" Id="R01e4e78f00914dc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a17075259684de7" /><Relationship Type="http://schemas.openxmlformats.org/officeDocument/2006/relationships/notesMaster" Target="/ppt/notesMasters/notesMaster1.xml" Id="R0f5c545ace1d4c1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cd64a99f6b54e3d" /><Relationship Type="http://schemas.openxmlformats.org/officeDocument/2006/relationships/notesMaster" Target="/ppt/notesMasters/notesMaster1.xml" Id="R6d79b9c5d9fb434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1e0fcd828e446cc" /><Relationship Type="http://schemas.openxmlformats.org/officeDocument/2006/relationships/notesMaster" Target="/ppt/notesMasters/notesMaster1.xml" Id="R20337f4b632a468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c3e9b77cbfc413a" /><Relationship Type="http://schemas.openxmlformats.org/officeDocument/2006/relationships/notesMaster" Target="/ppt/notesMasters/notesMaster1.xml" Id="Rda00de11d4bb4bd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ac570bf1fa5475c" /><Relationship Type="http://schemas.openxmlformats.org/officeDocument/2006/relationships/notesMaster" Target="/ppt/notesMasters/notesMaster1.xml" Id="R4b2f86fe511b428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0422f662abe430d" /><Relationship Type="http://schemas.openxmlformats.org/officeDocument/2006/relationships/notesMaster" Target="/ppt/notesMasters/notesMaster1.xml" Id="R0d4981d5425747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acknowledgement page(s)</a:t>
            </a:r>
            <a:r>
              <a:rPr>
                <a:solidFill>
                  <a:schemeClr val="dk2"/>
                </a:solidFill>
              </a:rPr>
              <a:t> at the 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65e1c0c4f540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9c91b2b074437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9ce964c8c54d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d1e04e133f4789" /></Relationships>
</file>

<file path=ppt/slideLayouts/slideLayout1.xml><?xml version="1.0" encoding="utf-8"?>
<p:sldLayout xmlns:p="http://schemas.openxmlformats.org/presentationml/2006/main" type="obj">
  <p:cSld name="Opening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hape 39">
            <a:extLst xmlns:a="http://schemas.openxmlformats.org/drawingml/2006/main">
              <a:ext uri="{FF2B5EF4-FFF2-40B4-BE49-F238E27FC236}">
                <a16:creationId xmlns:a16="http://schemas.microsoft.com/office/drawing/2014/main" id="{756AC967-F689-4E55-B88D-7C25AF1DA4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55700" y="1536700"/>
            <a:ext cx="13931900" cy="3086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91425" rIns="91425" bIns="91425" anchor="b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0" name="Shape 40">
            <a:extLst xmlns:a="http://schemas.openxmlformats.org/drawingml/2006/main">
              <a:ext uri="{FF2B5EF4-FFF2-40B4-BE49-F238E27FC236}">
                <a16:creationId xmlns:a16="http://schemas.microsoft.com/office/drawing/2014/main" id="{CF34FA1E-0ECB-4BB9-82BB-FF61CA69BB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4711700"/>
            <a:ext cx="13931900" cy="10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91425" rIns="91425" bIns="91425" anchor="t"/>
          <a:lstStyle xmlns:a="http://schemas.openxmlformats.org/drawingml/2006/main">
            <a:lvl1pPr marL="342900" indent="-34290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742950" indent="-28575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1143000" indent="-22860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1600200" indent="-22860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2057400" indent="-22860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hape 156">
            <a:extLst xmlns:a="http://schemas.openxmlformats.org/drawingml/2006/main">
              <a:ext uri="{FF2B5EF4-FFF2-40B4-BE49-F238E27FC236}">
                <a16:creationId xmlns:a16="http://schemas.microsoft.com/office/drawing/2014/main" id="{94880216-C960-4A02-B6D5-FD3BE6D54B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55700" y="789709"/>
            <a:ext cx="13931900" cy="1750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91425" rIns="91425" bIns="91425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57" name="Shape 157">
            <a:extLst xmlns:a="http://schemas.openxmlformats.org/drawingml/2006/main">
              <a:ext uri="{FF2B5EF4-FFF2-40B4-BE49-F238E27FC236}">
                <a16:creationId xmlns:a16="http://schemas.microsoft.com/office/drawing/2014/main" id="{4E4D8882-15B3-4F10-A9E4-167FB38CFF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2603500"/>
            <a:ext cx="13931900" cy="5702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91425" rIns="91425" bIns="91425" anchor="t"/>
          <a:lstStyle xmlns:a="http://schemas.openxmlformats.org/drawingml/2006/main">
            <a:lvl1pPr marL="647700" indent="-165861" algn="l">
              <a:spcBef>
                <a:spcPts val="3500"/>
              </a:spcBef>
              <a:spcAft>
                <a:spcPts val="0"/>
              </a:spcAft>
              <a:buChar char="•"/>
              <a:defRPr sz="3200"/>
            </a:lvl1pPr>
            <a:lvl2pPr marL="939800" indent="-165861" algn="l">
              <a:spcBef>
                <a:spcPts val="3500"/>
              </a:spcBef>
              <a:spcAft>
                <a:spcPts val="0"/>
              </a:spcAft>
              <a:buChar char="•"/>
              <a:defRPr/>
            </a:lvl2pPr>
            <a:lvl3pPr marL="1231900" indent="-165861" algn="l">
              <a:spcBef>
                <a:spcPts val="3500"/>
              </a:spcBef>
              <a:spcAft>
                <a:spcPts val="0"/>
              </a:spcAft>
              <a:buChar char="•"/>
              <a:defRPr/>
            </a:lvl3pPr>
            <a:lvl4pPr marL="1536700" indent="-165861" algn="l">
              <a:spcBef>
                <a:spcPts val="3500"/>
              </a:spcBef>
              <a:spcAft>
                <a:spcPts val="0"/>
              </a:spcAft>
              <a:buChar char="•"/>
              <a:defRPr/>
            </a:lvl4pPr>
            <a:lvl5pPr marL="1828800" indent="-165861" algn="l">
              <a:spcBef>
                <a:spcPts val="3500"/>
              </a:spcBef>
              <a:spcAft>
                <a:spcPts val="0"/>
              </a:spcAft>
              <a:buChar char="•"/>
              <a:defRPr/>
            </a:lvl5pPr>
            <a:lvl6pPr marL="2286000" indent="-165861" algn="l">
              <a:spcBef>
                <a:spcPts val="3500"/>
              </a:spcBef>
              <a:spcAft>
                <a:spcPts val="0"/>
              </a:spcAft>
              <a:buChar char="•"/>
              <a:defRPr/>
            </a:lvl6pPr>
            <a:lvl7pPr marL="2743200" indent="-165861" algn="l">
              <a:spcBef>
                <a:spcPts val="3500"/>
              </a:spcBef>
              <a:spcAft>
                <a:spcPts val="0"/>
              </a:spcAft>
              <a:buChar char="•"/>
              <a:defRPr/>
            </a:lvl7pPr>
            <a:lvl8pPr marL="3200400" indent="-165861" algn="l">
              <a:spcBef>
                <a:spcPts val="3500"/>
              </a:spcBef>
              <a:spcAft>
                <a:spcPts val="0"/>
              </a:spcAft>
              <a:buChar char="•"/>
              <a:defRPr/>
            </a:lvl8pPr>
            <a:lvl9pPr marL="3657600" indent="-165861" algn="l">
              <a:spcBef>
                <a:spcPts val="35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hape 156">
            <a:extLst xmlns:a="http://schemas.openxmlformats.org/drawingml/2006/main">
              <a:ext uri="{FF2B5EF4-FFF2-40B4-BE49-F238E27FC236}">
                <a16:creationId xmlns:a16="http://schemas.microsoft.com/office/drawing/2014/main" id="{CE91CFE6-C3E8-41EC-BF89-06865259B0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55700" y="789709"/>
            <a:ext cx="13931900" cy="1750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91425" rIns="91425" bIns="91425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5193e84abd4365" /><Relationship Type="http://schemas.openxmlformats.org/officeDocument/2006/relationships/slideLayout" Target="/ppt/slideLayouts/slideLayout1.xml" Id="R4d4fa123fe854808" /><Relationship Type="http://schemas.openxmlformats.org/officeDocument/2006/relationships/slideLayout" Target="/ppt/slideLayouts/slideLayout2.xml" Id="R80c8730b02864b4b" /><Relationship Type="http://schemas.openxmlformats.org/officeDocument/2006/relationships/slideLayout" Target="/ppt/slideLayouts/slideLayout3.xml" Id="Rd60c33355f4d4667" /><Relationship Type="http://schemas.openxmlformats.org/officeDocument/2006/relationships/slideLayout" Target="/ppt/slideLayouts/slideLayout4.xml" Id="R0a089b992b6a4b6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dk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6">
            <a:extLst xmlns:a="http://schemas.openxmlformats.org/drawingml/2006/main">
              <a:ext uri="{FF2B5EF4-FFF2-40B4-BE49-F238E27FC236}">
                <a16:creationId xmlns:a16="http://schemas.microsoft.com/office/drawing/2014/main" id="{F9E0505C-228E-4F87-A0C4-1A2A3C4670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55700" y="1536700"/>
            <a:ext cx="13931900" cy="3086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91425" rIns="91425" bIns="91425" anchor="b"/>
          <a:lstStyle xmlns:a="http://schemas.openxmlformats.org/drawingml/2006/main"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457200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914400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1371600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1828800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" name="Shape 7">
            <a:extLst xmlns:a="http://schemas.openxmlformats.org/drawingml/2006/main">
              <a:ext uri="{FF2B5EF4-FFF2-40B4-BE49-F238E27FC236}">
                <a16:creationId xmlns:a16="http://schemas.microsoft.com/office/drawing/2014/main" id="{DD803F0E-AB2E-4F6B-B1D9-6E6F071536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4711700"/>
            <a:ext cx="13931900" cy="10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91425" rIns="91425" bIns="91425" anchor="t"/>
          <a:lstStyle xmlns:a="http://schemas.openxmlformats.org/drawingml/2006/main">
            <a:lvl1pPr marL="342900" indent="-34290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742950" indent="-28575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1143000" indent="-22860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1600200" indent="-22860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2057400" indent="-22860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457200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914400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1371600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1828800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CE7E4AD-5B55-4B24-B9DE-A2413BAA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7680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 marL="742950" indent="-28575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 marL="11430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 marL="16002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 marL="20574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 marL="25146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 marL="29718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 marL="34290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 marL="38862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01FCD06-C09C-4086-BDA0-0DF4401C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57616"/>
            <a:ext cx="1625600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 marL="742950" indent="-28575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 marL="11430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 marL="16002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 marL="20574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 marL="25146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 marL="29718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 marL="34290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 marL="38862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4fa123fe854808"/>
    <p:sldLayoutId xmlns:r="http://schemas.openxmlformats.org/officeDocument/2006/relationships" id="2147483650" r:id="R80c8730b02864b4b"/>
    <p:sldLayoutId xmlns:r="http://schemas.openxmlformats.org/officeDocument/2006/relationships" id="2147483651" r:id="Rd60c33355f4d4667"/>
    <p:sldLayoutId xmlns:r="http://schemas.openxmlformats.org/officeDocument/2006/relationships" id="2147483652" r:id="R0a089b992b6a4b6a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Title &amp; Subtitle">
  <a:themeElements>
    <a:clrScheme name="ChatGPT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8270f302948c5" /><Relationship Type="http://schemas.openxmlformats.org/officeDocument/2006/relationships/image" Target="/ppt/media/image.png" Id="Rf66b2cdcf67b43b8" /><Relationship Type="http://schemas.openxmlformats.org/officeDocument/2006/relationships/image" Target="/ppt/media/image.jpeg" Id="R2a7dc2b7a7404f70" /><Relationship Type="http://schemas.openxmlformats.org/officeDocument/2006/relationships/notesSlide" Target="/ppt/notesSlides/notesSlide1.xml" Id="R62f3bdcd36574f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dccd6df3af4a02" /><Relationship Type="http://schemas.openxmlformats.org/officeDocument/2006/relationships/hyperlink" Target="https://en.wikipedia.org/wiki/Algorithm" TargetMode="External" Id="R0e64ea5d7c24498a" /><Relationship Type="http://schemas.openxmlformats.org/officeDocument/2006/relationships/hyperlink" Target="https://en.wikipedia.org/wiki/Data_structure" TargetMode="External" Id="R5b372d0cf4be47e6" /><Relationship Type="http://schemas.openxmlformats.org/officeDocument/2006/relationships/notesSlide" Target="/ppt/notesSlides/notesSlide2.xml" Id="Rb3346408f26e46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8acfa337564019" /><Relationship Type="http://schemas.openxmlformats.org/officeDocument/2006/relationships/notesSlide" Target="/ppt/notesSlides/notesSlide3.xml" Id="Rcab646d0a83945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f75cd4cf214746" /><Relationship Type="http://schemas.openxmlformats.org/officeDocument/2006/relationships/image" Target="/ppt/media/image2.jpeg" Id="R63d63e216a7b4590" /><Relationship Type="http://schemas.openxmlformats.org/officeDocument/2006/relationships/notesSlide" Target="/ppt/notesSlides/notesSlide4.xml" Id="R9503473d33a141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27bd2718e74248" /><Relationship Type="http://schemas.openxmlformats.org/officeDocument/2006/relationships/notesSlide" Target="/ppt/notesSlides/notesSlide5.xml" Id="R2650098dc63349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ef4f9005ea4ff4" /><Relationship Type="http://schemas.openxmlformats.org/officeDocument/2006/relationships/notesSlide" Target="/ppt/notesSlides/notesSlide6.xml" Id="Rf79fe97a35d341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c60ff5d7914913" /><Relationship Type="http://schemas.openxmlformats.org/officeDocument/2006/relationships/notesSlide" Target="/ppt/notesSlides/notesSlide7.xml" Id="Rf213d5b13f0d42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f2836ca4fa4af4" /><Relationship Type="http://schemas.openxmlformats.org/officeDocument/2006/relationships/image" Target="/ppt/media/image3.jpeg" Id="R695afd90677a49db" /><Relationship Type="http://schemas.openxmlformats.org/officeDocument/2006/relationships/notesSlide" Target="/ppt/notesSlides/notesSlide8.xml" Id="R2511d33e0a1248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9f87c240cd4d53" /><Relationship Type="http://schemas.openxmlformats.org/officeDocument/2006/relationships/notesSlide" Target="/ppt/notesSlides/notesSlide9.xml" Id="R8eccd1bff84644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271192267043ce" /><Relationship Type="http://schemas.openxmlformats.org/officeDocument/2006/relationships/notesSlide" Target="/ppt/notesSlides/notesSlide10.xml" Id="Rf9596946432745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d310689c6a49ca" /><Relationship Type="http://schemas.openxmlformats.org/officeDocument/2006/relationships/notesSlide" Target="/ppt/notesSlides/notesSlide11.xml" Id="R80cdd51bb95b42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b95d7c191494ef6" /><Relationship Type="http://schemas.openxmlformats.org/officeDocument/2006/relationships/notesSlide" Target="/ppt/notesSlides/notesSlide12.xml" Id="R3a03c9699bb542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8b7ebc37414211" /><Relationship Type="http://schemas.openxmlformats.org/officeDocument/2006/relationships/notesSlide" Target="/ppt/notesSlides/notesSlide13.xml" Id="Rf83b1f980e6f4b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ada988f7fb1460f" /><Relationship Type="http://schemas.openxmlformats.org/officeDocument/2006/relationships/notesSlide" Target="/ppt/notesSlides/notesSlide14.xml" Id="R243fd472b9f84d4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1a73b458f1e4a1f" /><Relationship Type="http://schemas.openxmlformats.org/officeDocument/2006/relationships/hyperlink" Target="http://docs.python.org/tutorial/datastructures.html" TargetMode="External" Id="R38460fb6a9d34a21" /><Relationship Type="http://schemas.openxmlformats.org/officeDocument/2006/relationships/notesSlide" Target="/ppt/notesSlides/notesSlide15.xml" Id="R7072d487de1348d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8d905efea942d2" /><Relationship Type="http://schemas.openxmlformats.org/officeDocument/2006/relationships/notesSlide" Target="/ppt/notesSlides/notesSlide16.xml" Id="R9716055f336c4b0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ec162e0dfe44e8" /><Relationship Type="http://schemas.openxmlformats.org/officeDocument/2006/relationships/notesSlide" Target="/ppt/notesSlides/notesSlide17.xml" Id="R86e69103ce6840c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8af9096b304fc4" /><Relationship Type="http://schemas.openxmlformats.org/officeDocument/2006/relationships/notesSlide" Target="/ppt/notesSlides/notesSlide18.xml" Id="R1d4f455e0ad3499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58721214e04419" /><Relationship Type="http://schemas.openxmlformats.org/officeDocument/2006/relationships/notesSlide" Target="/ppt/notesSlides/notesSlide19.xml" Id="Rc278ba155bf1450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bcb9294f10f4f12" /><Relationship Type="http://schemas.openxmlformats.org/officeDocument/2006/relationships/notesSlide" Target="/ppt/notesSlides/notesSlide20.xml" Id="Re95e147981a8406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92f715c12e54e90" /><Relationship Type="http://schemas.openxmlformats.org/officeDocument/2006/relationships/notesSlide" Target="/ppt/notesSlides/notesSlide21.xml" Id="R3ea5dc49ffec4a1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066ee8be8d94000" /><Relationship Type="http://schemas.openxmlformats.org/officeDocument/2006/relationships/notesSlide" Target="/ppt/notesSlides/notesSlide22.xml" Id="Ra14861c20211438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cd8f359035749f1" /><Relationship Type="http://schemas.openxmlformats.org/officeDocument/2006/relationships/notesSlide" Target="/ppt/notesSlides/notesSlide23.xml" Id="R4c3d2bad0abb41b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5e3d6121bf4c7e" /><Relationship Type="http://schemas.openxmlformats.org/officeDocument/2006/relationships/notesSlide" Target="/ppt/notesSlides/notesSlide24.xml" Id="R5bd6a73ff6554c3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024054d78154f72" /><Relationship Type="http://schemas.openxmlformats.org/officeDocument/2006/relationships/notesSlide" Target="/ppt/notesSlides/notesSlide25.xml" Id="R5aa0b50debaa4e5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ba3606526dc46d9" /><Relationship Type="http://schemas.openxmlformats.org/officeDocument/2006/relationships/notesSlide" Target="/ppt/notesSlides/notesSlide26.xml" Id="Rba4d9043fe73479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7dec5d693b54aad" /><Relationship Type="http://schemas.openxmlformats.org/officeDocument/2006/relationships/notesSlide" Target="/ppt/notesSlides/notesSlide27.xml" Id="R9c5ffc5dc21f471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46ce144456e4692" /><Relationship Type="http://schemas.openxmlformats.org/officeDocument/2006/relationships/notesSlide" Target="/ppt/notesSlides/notesSlide28.xml" Id="Rd247aca70b2a4c9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0519533e3904636" /><Relationship Type="http://schemas.openxmlformats.org/officeDocument/2006/relationships/hyperlink" Target="http://www.dr-chuck.com/" TargetMode="External" Id="R06646d9d3fec4d71" /><Relationship Type="http://schemas.openxmlformats.org/officeDocument/2006/relationships/hyperlink" Target="http://open.umich.edu/" TargetMode="External" Id="R4920bbcd4ad54fad" /><Relationship Type="http://schemas.openxmlformats.org/officeDocument/2006/relationships/image" Target="/ppt/media/image.jpeg" Id="R7524031e1cac42ef" /><Relationship Type="http://schemas.openxmlformats.org/officeDocument/2006/relationships/image" Target="/ppt/media/image.png" Id="R4bb47220a8ae42b1" /><Relationship Type="http://schemas.openxmlformats.org/officeDocument/2006/relationships/notesSlide" Target="/ppt/notesSlides/notesSlide29.xml" Id="R8ab31bc489ea424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5" name="Shape 165">
            <a:extLst xmlns:a="http://schemas.openxmlformats.org/drawingml/2006/main">
              <a:ext uri="{FF2B5EF4-FFF2-40B4-BE49-F238E27FC236}">
                <a16:creationId xmlns:a16="http://schemas.microsoft.com/office/drawing/2014/main" id="{F9EFA6DD-4D45-405A-AABF-190DFC8D8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Python Lists</a:t>
            </a:r>
          </a:p>
        </p:txBody>
      </p:sp>
      <p:sp>
        <p:nvSpPr>
          <p:cNvPr id="166" name="Shape 166">
            <a:extLst xmlns:a="http://schemas.openxmlformats.org/drawingml/2006/main">
              <a:ext uri="{FF2B5EF4-FFF2-40B4-BE49-F238E27FC236}">
                <a16:creationId xmlns:a16="http://schemas.microsoft.com/office/drawing/2014/main" id="{03DDC905-A8CF-488D-9E8C-5EB0391101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Chapter 8</a:t>
            </a:r>
          </a:p>
        </p:txBody>
      </p:sp>
      <p:sp>
        <p:nvSpPr>
          <p:cNvPr id="167" name="Shape 167">
            <a:extLst xmlns:a="http://schemas.openxmlformats.org/drawingml/2006/main">
              <a:ext uri="{FF2B5EF4-FFF2-40B4-BE49-F238E27FC236}">
                <a16:creationId xmlns:a16="http://schemas.microsoft.com/office/drawing/2014/main" id="{0B8659BA-6DE9-4DE2-8674-619352AD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600" y="6415089"/>
            <a:ext cx="7987499" cy="15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Python for Everybody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olidFill>
                  <a:srgbClr val="FFFF00"/>
                </a:solidFill>
                <a:latin typeface="Arial"/>
                <a:ea typeface="Arial"/>
                <a:cs typeface="Arial"/>
              </a:rPr>
              <a:t>www.py4e.com</a:t>
            </a:r>
          </a:p>
        </p:txBody>
      </p:sp>
      <p:pic>
        <p:nvPicPr>
          <p:cNvPr id="173" name="Shape 16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66b2cdcf67b43b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587412" y="7318368"/>
            <a:ext cx="1968599" cy="668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4" name="Shape 16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7dc2b7a7404f7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5250" y="6933293"/>
            <a:ext cx="1024800" cy="102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2485072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" name="Shape 189">
            <a:extLst xmlns:a="http://schemas.openxmlformats.org/drawingml/2006/main">
              <a:ext uri="{FF2B5EF4-FFF2-40B4-BE49-F238E27FC236}">
                <a16:creationId xmlns:a16="http://schemas.microsoft.com/office/drawing/2014/main" id="{2D257356-99D9-4ABD-8241-A324720F55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55700" y="789709"/>
            <a:ext cx="12992030" cy="1750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Programming</a:t>
            </a:r>
          </a:p>
        </p:txBody>
      </p:sp>
      <p:sp>
        <p:nvSpPr>
          <p:cNvPr id="190" name="Shape 190">
            <a:extLst xmlns:a="http://schemas.openxmlformats.org/drawingml/2006/main">
              <a:ext uri="{FF2B5EF4-FFF2-40B4-BE49-F238E27FC236}">
                <a16:creationId xmlns:a16="http://schemas.microsoft.com/office/drawing/2014/main" id="{744B986E-3F28-408F-AEAC-9551BC0383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2857500"/>
            <a:ext cx="13760450" cy="4843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3600" u="none" cap="none">
                <a:solidFill>
                  <a:srgbClr val="FF7F00"/>
                </a:solidFill>
                <a:latin typeface="Arial"/>
                <a:ea typeface="Arial"/>
                <a:cs typeface="Arial"/>
              </a:rPr>
              <a:t>Algorithm</a:t>
            </a:r>
          </a:p>
          <a:p xmlns:a="http://schemas.openxmlformats.org/drawingml/2006/main">
            <a:pPr marL="304800" indent="0">
              <a:spcBef>
                <a:spcPts val="0"/>
              </a:spcBef>
              <a:spcAft>
                <a:spcPts val="1000"/>
              </a:spcAft>
              <a:buNone/>
            </a:pPr>
            <a:r>
              <a:rPr sz="3200">
                <a:solidFill>
                  <a:schemeClr val="bg1"/>
                </a:solidFill>
                <a:latin typeface="Arial"/>
                <a:ea typeface="Arial"/>
                <a:cs typeface="Arial"/>
              </a:rPr>
              <a:t> -  A set of rules or steps used to solve a problem</a:t>
            </a:r>
          </a:p>
          <a:p xmlns:a="http://schemas.openxmlformats.org/drawingml/2006/main">
            <a:pPr marL="749300" indent="-444500">
              <a:spcBef>
                <a:spcPts val="0"/>
              </a:spcBef>
              <a:spcAft>
                <a:spcPts val="1000"/>
              </a:spcAft>
              <a:buNone/>
            </a:pPr>
          </a:p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3600">
                <a:solidFill>
                  <a:srgbClr val="FF7F00"/>
                </a:solidFill>
                <a:latin typeface="Arial"/>
                <a:ea typeface="Arial"/>
                <a:cs typeface="Arial"/>
              </a:rPr>
              <a:t>Data Structure</a:t>
            </a:r>
          </a:p>
          <a:p xmlns:a="http://schemas.openxmlformats.org/drawingml/2006/main">
            <a:pPr marL="304800" indent="0">
              <a:spcBef>
                <a:spcPts val="0"/>
              </a:spcBef>
              <a:spcAft>
                <a:spcPts val="1000"/>
              </a:spcAft>
              <a:buNone/>
            </a:pPr>
            <a:r>
              <a:rPr sz="3200">
                <a:solidFill>
                  <a:schemeClr val="lt1"/>
                </a:solidFill>
                <a:latin typeface="Arial"/>
                <a:ea typeface="Arial"/>
                <a:cs typeface="Arial"/>
              </a:rPr>
              <a:t> -  A particular way of organizing data in a computer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E75F96E-A5F0-472B-9C60-7EBAA6CF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449" y="6941246"/>
            <a:ext cx="7973658" cy="10772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200">
                <a:solidFill>
                  <a:srgbClr val="FFFF00"/>
                </a:solidFill>
                <a:hlinkClick xmlns:r="http://schemas.openxmlformats.org/officeDocument/2006/relationships" r:id="R0e64ea5d7c24498a"/>
              </a:rPr>
              <a:t>https://en.wikipedia.org/wiki/Algorithm</a:t>
            </a:r>
          </a:p>
          <a:p xmlns:a="http://schemas.openxmlformats.org/drawingml/2006/main">
            <a:pPr algn="r">
              <a:buNone/>
            </a:pPr>
            <a:r>
              <a:rPr sz="3200">
                <a:solidFill>
                  <a:srgbClr val="FFFF00"/>
                </a:solidFill>
                <a:hlinkClick xmlns:r="http://schemas.openxmlformats.org/officeDocument/2006/relationships" r:id="R5b372d0cf4be47e6"/>
              </a:rPr>
              <a:t>https://en.wikipedia.org/wiki/Data_structure</a:t>
            </a:r>
          </a:p>
        </p:txBody>
      </p:sp>
    </p:spTree>
    <p:extLst>
      <p:ext uri="{BB962C8B-B14F-4D97-AF65-F5344CB8AC3E}">
        <p14:creationId xmlns:p14="http://schemas.microsoft.com/office/powerpoint/2010/main" val="7534446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2" name="Shape 182">
            <a:extLst xmlns:a="http://schemas.openxmlformats.org/drawingml/2006/main">
              <a:ext uri="{FF2B5EF4-FFF2-40B4-BE49-F238E27FC236}">
                <a16:creationId xmlns:a16="http://schemas.microsoft.com/office/drawing/2014/main" id="{552FBBAC-D2F9-4058-AB63-A4EBE21873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What is Not a </a:t>
            </a:r>
            <a:r>
              <a:rPr sz="7600" b="0" i="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“</a:t>
            </a: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Collection</a:t>
            </a:r>
            <a:r>
              <a:rPr sz="7600" b="0" i="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”?</a:t>
            </a:r>
          </a:p>
        </p:txBody>
      </p:sp>
      <p:sp>
        <p:nvSpPr>
          <p:cNvPr id="183" name="Shape 183">
            <a:extLst xmlns:a="http://schemas.openxmlformats.org/drawingml/2006/main">
              <a:ext uri="{FF2B5EF4-FFF2-40B4-BE49-F238E27FC236}">
                <a16:creationId xmlns:a16="http://schemas.microsoft.com/office/drawing/2014/main" id="{A86332C5-511E-48E1-9822-F0BD63B69F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2603501"/>
            <a:ext cx="13931900" cy="265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Most of our </a:t>
            </a:r>
            <a:r>
              <a:rPr sz="3600" u="none" cap="none">
                <a:solidFill>
                  <a:srgbClr val="00FF00"/>
                </a:solidFill>
                <a:latin typeface="Arial"/>
                <a:ea typeface="Arial"/>
                <a:cs typeface="Arial"/>
              </a:rPr>
              <a:t>variables</a:t>
            </a: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have one value in them - when we put a new value in the </a:t>
            </a:r>
            <a:r>
              <a:rPr sz="3600" u="none" cap="none">
                <a:solidFill>
                  <a:srgbClr val="00FF00"/>
                </a:solidFill>
                <a:latin typeface="Arial"/>
                <a:ea typeface="Arial"/>
                <a:cs typeface="Arial"/>
              </a:rPr>
              <a:t>variable</a:t>
            </a:r>
            <a:r>
              <a:rPr sz="3600">
                <a:solidFill>
                  <a:schemeClr val="lt1"/>
                </a:solidFill>
                <a:latin typeface="Arial"/>
                <a:ea typeface="Arial"/>
                <a:cs typeface="Arial"/>
              </a:rPr>
              <a:t>,</a:t>
            </a: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the old value is overwritten</a:t>
            </a:r>
          </a:p>
        </p:txBody>
      </p:sp>
      <p:sp>
        <p:nvSpPr>
          <p:cNvPr id="184" name="Shape 184">
            <a:extLst xmlns:a="http://schemas.openxmlformats.org/drawingml/2006/main">
              <a:ext uri="{FF2B5EF4-FFF2-40B4-BE49-F238E27FC236}">
                <a16:creationId xmlns:a16="http://schemas.microsoft.com/office/drawing/2014/main" id="{6EE0DDD3-EA82-4713-982F-C728121A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725" y="5621338"/>
            <a:ext cx="12214275" cy="2257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$ python3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x = 2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x = 4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print(x)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622508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" name="Shape 174">
            <a:extLst xmlns:a="http://schemas.openxmlformats.org/drawingml/2006/main">
              <a:ext uri="{FF2B5EF4-FFF2-40B4-BE49-F238E27FC236}">
                <a16:creationId xmlns:a16="http://schemas.microsoft.com/office/drawing/2014/main" id="{A27C64D5-4E59-443C-8EBD-B1D086A667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55700" y="789709"/>
            <a:ext cx="11688763" cy="1750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4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A List is a Kind of Collection</a:t>
            </a:r>
          </a:p>
        </p:txBody>
      </p:sp>
      <p:sp>
        <p:nvSpPr>
          <p:cNvPr id="175" name="Shape 175">
            <a:extLst xmlns:a="http://schemas.openxmlformats.org/drawingml/2006/main">
              <a:ext uri="{FF2B5EF4-FFF2-40B4-BE49-F238E27FC236}">
                <a16:creationId xmlns:a16="http://schemas.microsoft.com/office/drawing/2014/main" id="{14D19AB6-5888-4F89-A7A4-7F3C091B62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2603501"/>
            <a:ext cx="13931900" cy="3525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749300" indent="-37109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A </a:t>
            </a:r>
            <a:r>
              <a:rPr sz="36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collection</a:t>
            </a: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allows us to put many values in a single </a:t>
            </a:r>
            <a:r>
              <a:rPr sz="36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“</a:t>
            </a:r>
            <a:r>
              <a:rPr sz="3600" u="none" cap="none">
                <a:solidFill>
                  <a:srgbClr val="00FF00"/>
                </a:solidFill>
                <a:latin typeface="Arial"/>
                <a:ea typeface="Arial"/>
                <a:cs typeface="Arial"/>
              </a:rPr>
              <a:t>variable</a:t>
            </a:r>
            <a:r>
              <a:rPr sz="36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”</a:t>
            </a:r>
          </a:p>
          <a:p xmlns:a="http://schemas.openxmlformats.org/drawingml/2006/main">
            <a:pPr marL="749300" indent="-371094" algn="l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har char="•"/>
            </a:pP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A </a:t>
            </a:r>
            <a:r>
              <a:rPr sz="36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collection</a:t>
            </a: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is nice because we can carry all </a:t>
            </a:r>
            <a:r>
              <a:rPr sz="3600" u="none" cap="none">
                <a:solidFill>
                  <a:srgbClr val="FF7F00"/>
                </a:solidFill>
                <a:latin typeface="Arial"/>
                <a:ea typeface="Arial"/>
                <a:cs typeface="Arial"/>
              </a:rPr>
              <a:t>many values</a:t>
            </a: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around in one convenient package.</a:t>
            </a:r>
          </a:p>
        </p:txBody>
      </p:sp>
      <p:pic>
        <p:nvPicPr>
          <p:cNvPr id="181" name="Shape 17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3d63e216a7b459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277850" y="789709"/>
            <a:ext cx="2557874" cy="209629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7" name="Shape 177">
            <a:extLst xmlns:a="http://schemas.openxmlformats.org/drawingml/2006/main">
              <a:ext uri="{FF2B5EF4-FFF2-40B4-BE49-F238E27FC236}">
                <a16:creationId xmlns:a16="http://schemas.microsoft.com/office/drawing/2014/main" id="{4E089484-F956-4701-BF4B-7D21E654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250" y="6000750"/>
            <a:ext cx="12192000" cy="2214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friends</a:t>
            </a:r>
            <a:r>
              <a:rPr sz="3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=</a:t>
            </a:r>
            <a:r>
              <a:rPr sz="3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[ 'Joseph', 'Glenn', 'Sally' ]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carryon</a:t>
            </a:r>
            <a:r>
              <a:rPr sz="3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=</a:t>
            </a:r>
            <a:r>
              <a:rPr sz="3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[ 'socks', 'shirt', 'perfume' ]</a:t>
            </a:r>
          </a:p>
        </p:txBody>
      </p:sp>
    </p:spTree>
    <p:extLst>
      <p:ext uri="{BB962C8B-B14F-4D97-AF65-F5344CB8AC3E}">
        <p14:creationId xmlns:p14="http://schemas.microsoft.com/office/powerpoint/2010/main" val="14220379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" name="Shape 189">
            <a:extLst xmlns:a="http://schemas.openxmlformats.org/drawingml/2006/main">
              <a:ext uri="{FF2B5EF4-FFF2-40B4-BE49-F238E27FC236}">
                <a16:creationId xmlns:a16="http://schemas.microsoft.com/office/drawing/2014/main" id="{6A3546CA-A68E-4730-81EE-49C0773360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List Literals</a:t>
            </a:r>
          </a:p>
        </p:txBody>
      </p:sp>
      <p:sp>
        <p:nvSpPr>
          <p:cNvPr id="190" name="Shape 190">
            <a:extLst xmlns:a="http://schemas.openxmlformats.org/drawingml/2006/main">
              <a:ext uri="{FF2B5EF4-FFF2-40B4-BE49-F238E27FC236}">
                <a16:creationId xmlns:a16="http://schemas.microsoft.com/office/drawing/2014/main" id="{4D5E5ABF-B61A-448D-A7B7-275CE6EB64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8500" y="2857500"/>
            <a:ext cx="7331075" cy="4843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rgbClr val="FF7F00"/>
                </a:solidFill>
                <a:latin typeface="Arial"/>
                <a:ea typeface="Arial"/>
                <a:cs typeface="Arial"/>
              </a:rPr>
              <a:t>List literals are surrounded by square brackets, with elements separated by commas</a:t>
            </a:r>
          </a:p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A list element can be any Python object, even another list</a:t>
            </a:r>
          </a:p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A list can be empty</a:t>
            </a:r>
          </a:p>
        </p:txBody>
      </p:sp>
      <p:sp>
        <p:nvSpPr>
          <p:cNvPr id="191" name="Shape 191">
            <a:extLst xmlns:a="http://schemas.openxmlformats.org/drawingml/2006/main">
              <a:ext uri="{FF2B5EF4-FFF2-40B4-BE49-F238E27FC236}">
                <a16:creationId xmlns:a16="http://schemas.microsoft.com/office/drawing/2014/main" id="{4A9B3E7A-B04E-402B-82C5-8F06B1BF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4113" y="2532050"/>
            <a:ext cx="7162387" cy="5540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8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8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[1, 24, 76]</a:t>
            </a:r>
            <a:r>
              <a:rPr sz="28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[1, 24, 76]</a:t>
            </a:r>
          </a:p>
          <a:p xmlns:a="http://schemas.openxmlformats.org/drawingml/2006/main">
            <a:pPr>
              <a:buNone/>
            </a:pPr>
            <a:r>
              <a:rPr sz="28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8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</a:t>
            </a:r>
            <a:r>
              <a:rPr sz="28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28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['red', 'yellow', 'blue']</a:t>
            </a:r>
            <a:r>
              <a:rPr sz="28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['red', 'yellow', 'blue']</a:t>
            </a:r>
          </a:p>
          <a:p xmlns:a="http://schemas.openxmlformats.org/drawingml/2006/main">
            <a:pPr>
              <a:buNone/>
            </a:pPr>
            <a:r>
              <a:rPr sz="28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8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</a:t>
            </a:r>
            <a:r>
              <a:rPr sz="28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28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['red', 24, 98.6]</a:t>
            </a:r>
            <a:r>
              <a:rPr sz="28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['red', 24, 98.6]</a:t>
            </a:r>
          </a:p>
          <a:p xmlns:a="http://schemas.openxmlformats.org/drawingml/2006/main">
            <a:pPr>
              <a:buNone/>
            </a:pPr>
            <a:r>
              <a:rPr sz="28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8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</a:t>
            </a:r>
            <a:r>
              <a:rPr sz="28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(</a:t>
            </a:r>
            <a:r>
              <a:rPr sz="28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[ 1, </a:t>
            </a:r>
            <a:r>
              <a:rPr sz="28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[5, 6]</a:t>
            </a:r>
            <a:r>
              <a:rPr sz="28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, 7]</a:t>
            </a:r>
            <a:r>
              <a:rPr sz="28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[1, [5, 6], 7]</a:t>
            </a:r>
          </a:p>
          <a:p xmlns:a="http://schemas.openxmlformats.org/drawingml/2006/main">
            <a:pPr>
              <a:buNone/>
            </a:pPr>
            <a:r>
              <a:rPr sz="28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8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</a:t>
            </a:r>
            <a:r>
              <a:rPr sz="28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28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[]</a:t>
            </a:r>
            <a:r>
              <a:rPr sz="28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[]</a:t>
            </a:r>
          </a:p>
        </p:txBody>
      </p:sp>
    </p:spTree>
    <p:extLst>
      <p:ext uri="{BB962C8B-B14F-4D97-AF65-F5344CB8AC3E}">
        <p14:creationId xmlns:p14="http://schemas.microsoft.com/office/powerpoint/2010/main" val="3600343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Shape 196">
            <a:extLst xmlns:a="http://schemas.openxmlformats.org/drawingml/2006/main">
              <a:ext uri="{FF2B5EF4-FFF2-40B4-BE49-F238E27FC236}">
                <a16:creationId xmlns:a16="http://schemas.microsoft.com/office/drawing/2014/main" id="{A26D95CB-7588-435C-8E5D-C1D2EF80EB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We Already Use Lists!</a:t>
            </a:r>
          </a:p>
        </p:txBody>
      </p:sp>
      <p:sp>
        <p:nvSpPr>
          <p:cNvPr id="197" name="Shape 197">
            <a:extLst xmlns:a="http://schemas.openxmlformats.org/drawingml/2006/main">
              <a:ext uri="{FF2B5EF4-FFF2-40B4-BE49-F238E27FC236}">
                <a16:creationId xmlns:a16="http://schemas.microsoft.com/office/drawing/2014/main" id="{0E92F4B7-1A9D-4207-9FBC-6657C54D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840601"/>
            <a:ext cx="8488800" cy="363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for i in [5, 4, 3, 2, 1]: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   print(i)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print('Blastoff!')</a:t>
            </a:r>
          </a:p>
        </p:txBody>
      </p:sp>
      <p:sp>
        <p:nvSpPr>
          <p:cNvPr id="198" name="Shape 198">
            <a:extLst xmlns:a="http://schemas.openxmlformats.org/drawingml/2006/main">
              <a:ext uri="{FF2B5EF4-FFF2-40B4-BE49-F238E27FC236}">
                <a16:creationId xmlns:a16="http://schemas.microsoft.com/office/drawing/2014/main" id="{2628C583-7D01-4B4F-AB5E-7B037A68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861" y="3003550"/>
            <a:ext cx="2384424" cy="490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5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4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3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2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1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Blastoff!</a:t>
            </a:r>
          </a:p>
        </p:txBody>
      </p:sp>
    </p:spTree>
    <p:extLst>
      <p:ext uri="{BB962C8B-B14F-4D97-AF65-F5344CB8AC3E}">
        <p14:creationId xmlns:p14="http://schemas.microsoft.com/office/powerpoint/2010/main" val="13649037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3" name="Shape 203">
            <a:extLst xmlns:a="http://schemas.openxmlformats.org/drawingml/2006/main">
              <a:ext uri="{FF2B5EF4-FFF2-40B4-BE49-F238E27FC236}">
                <a16:creationId xmlns:a16="http://schemas.microsoft.com/office/drawing/2014/main" id="{3B667547-093F-4271-8E46-F113A06BBA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Lists and for Loops Work Together</a:t>
            </a:r>
          </a:p>
        </p:txBody>
      </p:sp>
      <p:sp>
        <p:nvSpPr>
          <p:cNvPr id="204" name="Shape 204">
            <a:extLst xmlns:a="http://schemas.openxmlformats.org/drawingml/2006/main">
              <a:ext uri="{FF2B5EF4-FFF2-40B4-BE49-F238E27FC236}">
                <a16:creationId xmlns:a16="http://schemas.microsoft.com/office/drawing/2014/main" id="{49265B28-A292-4DE4-9E9F-4B1409F2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124" y="3423163"/>
            <a:ext cx="7280400" cy="2216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friends = ['Joseph', 'Glenn', 'Sally']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for friend in friends: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   print('Happy New Year:', friend)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print('Done!')</a:t>
            </a:r>
          </a:p>
        </p:txBody>
      </p:sp>
      <p:sp>
        <p:nvSpPr>
          <p:cNvPr id="205" name="Shape 205">
            <a:extLst xmlns:a="http://schemas.openxmlformats.org/drawingml/2006/main">
              <a:ext uri="{FF2B5EF4-FFF2-40B4-BE49-F238E27FC236}">
                <a16:creationId xmlns:a16="http://schemas.microsoft.com/office/drawing/2014/main" id="{C52F0B9D-E631-49D8-87B3-7BC915FE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051100"/>
            <a:ext cx="4943475" cy="21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Happy New Year: Joseph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Happy New Year: Glenn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Happy New Year: Sally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Done!</a:t>
            </a:r>
          </a:p>
        </p:txBody>
      </p:sp>
      <p:cxnSp>
        <p:nvCxnSpPr>
          <p:cNvPr id="224" name="Shape 206"/>
          <p:cNvCxnSpPr/>
          <p:nvPr/>
        </p:nvCxnSpPr>
        <p:spPr>
          <a:xfrm xmlns:a="http://schemas.openxmlformats.org/drawingml/2006/main" flipH="1">
            <a:off x="8443912" y="4353475"/>
            <a:ext cx="1986512" cy="318538"/>
          </a:xfrm>
          <a:prstGeom xmlns:a="http://schemas.openxmlformats.org/drawingml/2006/main" prst="straightConnector1">
            <a:avLst/>
          </a:prstGeom>
          <a:ln xmlns:a="http://schemas.openxmlformats.org/drawingml/2006/main" w="50800" cap="rnd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25" name="Shape 207"/>
          <p:cNvCxnSpPr/>
          <p:nvPr/>
        </p:nvCxnSpPr>
        <p:spPr>
          <a:xfrm xmlns:a="http://schemas.openxmlformats.org/drawingml/2006/main" flipH="1" flipV="1">
            <a:off x="8464060" y="4672014"/>
            <a:ext cx="1961138" cy="839786"/>
          </a:xfrm>
          <a:prstGeom xmlns:a="http://schemas.openxmlformats.org/drawingml/2006/main" prst="straightConnector1">
            <a:avLst/>
          </a:prstGeom>
          <a:ln xmlns:a="http://schemas.openxmlformats.org/drawingml/2006/main" w="50800" cap="rnd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26" name="Shape 208"/>
          <p:cNvCxnSpPr/>
          <p:nvPr/>
        </p:nvCxnSpPr>
        <p:spPr>
          <a:xfrm xmlns:a="http://schemas.openxmlformats.org/drawingml/2006/main" rot="10800000">
            <a:off x="3904399" y="5160163"/>
            <a:ext cx="6596999" cy="798899"/>
          </a:xfrm>
          <a:prstGeom xmlns:a="http://schemas.openxmlformats.org/drawingml/2006/main" prst="straightConnector1">
            <a:avLst/>
          </a:prstGeom>
          <a:ln xmlns:a="http://schemas.openxmlformats.org/drawingml/2006/main" w="50800" cap="rnd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8" name="Shape 204">
            <a:extLst xmlns:a="http://schemas.openxmlformats.org/drawingml/2006/main">
              <a:ext uri="{FF2B5EF4-FFF2-40B4-BE49-F238E27FC236}">
                <a16:creationId xmlns:a16="http://schemas.microsoft.com/office/drawing/2014/main" id="{16DF6EB2-C172-4D9F-8E57-B7D52029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124" y="5997591"/>
            <a:ext cx="7280400" cy="2216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z = ['Joseph', 'Glenn', 'Sally']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for x in z: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   print('Happy New Year:', x)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print('Done!')</a:t>
            </a:r>
          </a:p>
        </p:txBody>
      </p:sp>
    </p:spTree>
    <p:extLst>
      <p:ext uri="{BB962C8B-B14F-4D97-AF65-F5344CB8AC3E}">
        <p14:creationId xmlns:p14="http://schemas.microsoft.com/office/powerpoint/2010/main" val="14318615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Shape 213">
            <a:extLst xmlns:a="http://schemas.openxmlformats.org/drawingml/2006/main">
              <a:ext uri="{FF2B5EF4-FFF2-40B4-BE49-F238E27FC236}">
                <a16:creationId xmlns:a16="http://schemas.microsoft.com/office/drawing/2014/main" id="{E4BBF943-716A-44FE-BDBF-EB449220A7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Looking Inside Lists</a:t>
            </a:r>
          </a:p>
        </p:txBody>
      </p:sp>
      <p:sp>
        <p:nvSpPr>
          <p:cNvPr id="214" name="Shape 214">
            <a:extLst xmlns:a="http://schemas.openxmlformats.org/drawingml/2006/main">
              <a:ext uri="{FF2B5EF4-FFF2-40B4-BE49-F238E27FC236}">
                <a16:creationId xmlns:a16="http://schemas.microsoft.com/office/drawing/2014/main" id="{045FE41C-66E8-4ED2-A324-A6B0A34B0D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2603501"/>
            <a:ext cx="1393190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Just like strings, we can get at any single element in a list using an index specified in</a:t>
            </a:r>
            <a:r>
              <a:rPr sz="3600" u="none" cap="none">
                <a:solidFill>
                  <a:srgbClr val="00FFFF"/>
                </a:solidFill>
                <a:latin typeface="Arial"/>
                <a:ea typeface="Arial"/>
                <a:cs typeface="Arial"/>
              </a:rPr>
              <a:t> square brackets</a:t>
            </a:r>
          </a:p>
        </p:txBody>
      </p:sp>
      <p:pic>
        <p:nvPicPr>
          <p:cNvPr id="226" name="Shape 2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5afd90677a49d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58775" y="992909"/>
            <a:ext cx="2736850" cy="1828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6" name="Shape 216">
            <a:extLst xmlns:a="http://schemas.openxmlformats.org/drawingml/2006/main">
              <a:ext uri="{FF2B5EF4-FFF2-40B4-BE49-F238E27FC236}">
                <a16:creationId xmlns:a16="http://schemas.microsoft.com/office/drawing/2014/main" id="{ACFADAF8-BCEE-42AF-AE69-457265C8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200" y="6375401"/>
            <a:ext cx="736599" cy="73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7" name="Shape 217">
            <a:extLst xmlns:a="http://schemas.openxmlformats.org/drawingml/2006/main">
              <a:ext uri="{FF2B5EF4-FFF2-40B4-BE49-F238E27FC236}">
                <a16:creationId xmlns:a16="http://schemas.microsoft.com/office/drawing/2014/main" id="{63DC3487-DC52-480C-903B-5549E43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" y="5651501"/>
            <a:ext cx="1879599" cy="73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0800" cmpd="sng">
            <a:solidFill>
              <a:srgbClr val="FF7F00"/>
            </a:solidFill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Joseph</a:t>
            </a:r>
          </a:p>
        </p:txBody>
      </p:sp>
      <p:sp>
        <p:nvSpPr>
          <p:cNvPr id="218" name="Shape 218">
            <a:extLst xmlns:a="http://schemas.openxmlformats.org/drawingml/2006/main">
              <a:ext uri="{FF2B5EF4-FFF2-40B4-BE49-F238E27FC236}">
                <a16:creationId xmlns:a16="http://schemas.microsoft.com/office/drawing/2014/main" id="{E33889C7-A57D-44C0-8817-650EBA78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65701"/>
            <a:ext cx="8156400" cy="2339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friends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</a:t>
            </a:r>
            <a:r>
              <a:rPr sz="24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[ 'Joseph', 'Glenn', 'Sally' 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friends</a:t>
            </a:r>
            <a:r>
              <a:rPr sz="24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[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1</a:t>
            </a:r>
            <a:r>
              <a:rPr sz="24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]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Glenn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</a:p>
        </p:txBody>
      </p:sp>
      <p:sp>
        <p:nvSpPr>
          <p:cNvPr id="219" name="Shape 219">
            <a:extLst xmlns:a="http://schemas.openxmlformats.org/drawingml/2006/main">
              <a:ext uri="{FF2B5EF4-FFF2-40B4-BE49-F238E27FC236}">
                <a16:creationId xmlns:a16="http://schemas.microsoft.com/office/drawing/2014/main" id="{D8B75CA0-EABE-4B7D-B359-5C4E9916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800" y="6375401"/>
            <a:ext cx="736599" cy="73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0" name="Shape 220">
            <a:extLst xmlns:a="http://schemas.openxmlformats.org/drawingml/2006/main">
              <a:ext uri="{FF2B5EF4-FFF2-40B4-BE49-F238E27FC236}">
                <a16:creationId xmlns:a16="http://schemas.microsoft.com/office/drawing/2014/main" id="{43765C14-0BAF-45BF-B9C7-EA3A9219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300" y="5651501"/>
            <a:ext cx="1879599" cy="73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0800" cmpd="sng">
            <a:solidFill>
              <a:srgbClr val="FF7F00"/>
            </a:solidFill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Glenn</a:t>
            </a:r>
          </a:p>
        </p:txBody>
      </p:sp>
      <p:sp>
        <p:nvSpPr>
          <p:cNvPr id="221" name="Shape 221">
            <a:extLst xmlns:a="http://schemas.openxmlformats.org/drawingml/2006/main">
              <a:ext uri="{FF2B5EF4-FFF2-40B4-BE49-F238E27FC236}">
                <a16:creationId xmlns:a16="http://schemas.microsoft.com/office/drawing/2014/main" id="{1232E2C7-B22D-46AE-AC80-176031BA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375401"/>
            <a:ext cx="736599" cy="73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2" name="Shape 222">
            <a:extLst xmlns:a="http://schemas.openxmlformats.org/drawingml/2006/main">
              <a:ext uri="{FF2B5EF4-FFF2-40B4-BE49-F238E27FC236}">
                <a16:creationId xmlns:a16="http://schemas.microsoft.com/office/drawing/2014/main" id="{65611D7E-3D03-48C7-A2BD-213942F4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651501"/>
            <a:ext cx="1879599" cy="73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0800" cmpd="sng">
            <a:solidFill>
              <a:srgbClr val="FF7F00"/>
            </a:solidFill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Sally</a:t>
            </a:r>
          </a:p>
        </p:txBody>
      </p:sp>
    </p:spTree>
    <p:extLst>
      <p:ext uri="{BB962C8B-B14F-4D97-AF65-F5344CB8AC3E}">
        <p14:creationId xmlns:p14="http://schemas.microsoft.com/office/powerpoint/2010/main" val="19751810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7" name="Shape 227">
            <a:extLst xmlns:a="http://schemas.openxmlformats.org/drawingml/2006/main">
              <a:ext uri="{FF2B5EF4-FFF2-40B4-BE49-F238E27FC236}">
                <a16:creationId xmlns:a16="http://schemas.microsoft.com/office/drawing/2014/main" id="{CD050E00-5CFE-463D-8DC6-35F8220EDF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55700" y="789709"/>
            <a:ext cx="13449300" cy="1750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Lists are Mutable</a:t>
            </a:r>
          </a:p>
        </p:txBody>
      </p:sp>
      <p:sp>
        <p:nvSpPr>
          <p:cNvPr id="228" name="Shape 228">
            <a:extLst xmlns:a="http://schemas.openxmlformats.org/drawingml/2006/main">
              <a:ext uri="{FF2B5EF4-FFF2-40B4-BE49-F238E27FC236}">
                <a16:creationId xmlns:a16="http://schemas.microsoft.com/office/drawing/2014/main" id="{0A7F2C6F-4C11-4344-AFE5-8088599DBE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2603501"/>
            <a:ext cx="7331075" cy="515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Strings are </a:t>
            </a:r>
            <a:r>
              <a:rPr sz="3400">
                <a:solidFill>
                  <a:schemeClr val="lt1"/>
                </a:solidFill>
                <a:latin typeface="Arial"/>
                <a:ea typeface="Arial"/>
                <a:cs typeface="Arial"/>
              </a:rPr>
              <a:t>“</a:t>
            </a:r>
            <a:r>
              <a:rPr sz="3400" u="none" cap="none">
                <a:solidFill>
                  <a:srgbClr val="00FF00"/>
                </a:solidFill>
                <a:latin typeface="Arial"/>
                <a:ea typeface="Arial"/>
                <a:cs typeface="Arial"/>
              </a:rPr>
              <a:t>immutable</a:t>
            </a:r>
            <a:r>
              <a:rPr sz="3400">
                <a:solidFill>
                  <a:schemeClr val="lt1"/>
                </a:solidFill>
                <a:latin typeface="Arial"/>
                <a:ea typeface="Arial"/>
                <a:cs typeface="Arial"/>
              </a:rPr>
              <a:t>”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- we cannot change the contents of a string - we must make a 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new string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to make any change</a:t>
            </a:r>
          </a:p>
          <a:p xmlns:a="http://schemas.openxmlformats.org/drawingml/2006/main">
            <a:pPr marL="457200" indent="-444500"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Lists are </a:t>
            </a:r>
            <a:r>
              <a:rPr sz="3400">
                <a:solidFill>
                  <a:schemeClr val="lt1"/>
                </a:solidFill>
                <a:latin typeface="Arial"/>
                <a:ea typeface="Arial"/>
                <a:cs typeface="Arial"/>
              </a:rPr>
              <a:t>“</a:t>
            </a:r>
            <a:r>
              <a:rPr sz="3400" u="none" cap="none">
                <a:solidFill>
                  <a:srgbClr val="00FF00"/>
                </a:solidFill>
                <a:latin typeface="Arial"/>
                <a:ea typeface="Arial"/>
                <a:cs typeface="Arial"/>
              </a:rPr>
              <a:t>mutable</a:t>
            </a:r>
            <a:r>
              <a:rPr sz="3400">
                <a:solidFill>
                  <a:schemeClr val="lt1"/>
                </a:solidFill>
                <a:latin typeface="Arial"/>
                <a:ea typeface="Arial"/>
                <a:cs typeface="Arial"/>
              </a:rPr>
              <a:t>”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- we can 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change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an element of a list using the </a:t>
            </a:r>
            <a:r>
              <a:rPr sz="3400" u="none" cap="none">
                <a:solidFill>
                  <a:srgbClr val="00FFFF"/>
                </a:solidFill>
                <a:latin typeface="Arial"/>
                <a:ea typeface="Arial"/>
                <a:cs typeface="Arial"/>
              </a:rPr>
              <a:t>index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operator</a:t>
            </a:r>
          </a:p>
        </p:txBody>
      </p:sp>
      <p:sp>
        <p:nvSpPr>
          <p:cNvPr id="229" name="Shape 229">
            <a:extLst xmlns:a="http://schemas.openxmlformats.org/drawingml/2006/main">
              <a:ext uri="{FF2B5EF4-FFF2-40B4-BE49-F238E27FC236}">
                <a16:creationId xmlns:a16="http://schemas.microsoft.com/office/drawing/2014/main" id="{8FE70917-6EB8-473C-AA96-E39AC1A8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300" y="2247900"/>
            <a:ext cx="6464399" cy="5969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fruit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'Banana</a:t>
            </a:r>
            <a:r>
              <a:rPr sz="24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'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fruit</a:t>
            </a:r>
            <a:r>
              <a:rPr sz="24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[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0</a:t>
            </a:r>
            <a:r>
              <a:rPr sz="24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]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'b</a:t>
            </a:r>
            <a:r>
              <a:rPr sz="24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'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E06666"/>
                </a:solidFill>
                <a:latin typeface="Courier"/>
                <a:ea typeface="Courier"/>
                <a:cs typeface="Courier"/>
              </a:rPr>
              <a:t>Traceback</a:t>
            </a:r>
            <a:r>
              <a:rPr sz="2400" b="1" i="0" u="none" cap="none">
                <a:solidFill>
                  <a:srgbClr val="E06666"/>
                </a:solidFill>
                <a:latin typeface="Courier"/>
                <a:ea typeface="Courier"/>
                <a:cs typeface="Courier"/>
              </a:rPr>
              <a:t> 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E06666"/>
                </a:solidFill>
                <a:latin typeface="Courier"/>
                <a:ea typeface="Courier"/>
                <a:cs typeface="Courier"/>
              </a:rPr>
              <a:t>TypeError</a:t>
            </a:r>
            <a:r>
              <a:rPr sz="2400" b="1" i="0" u="none" cap="none">
                <a:solidFill>
                  <a:srgbClr val="E06666"/>
                </a:solidFill>
                <a:latin typeface="Courier"/>
                <a:ea typeface="Courier"/>
                <a:cs typeface="Courier"/>
              </a:rPr>
              <a:t>: '</a:t>
            </a:r>
            <a:r>
              <a:rPr sz="2400" b="1" i="0" u="none" cap="none">
                <a:solidFill>
                  <a:srgbClr val="E06666"/>
                </a:solidFill>
                <a:latin typeface="Courier"/>
                <a:ea typeface="Courier"/>
                <a:cs typeface="Courier"/>
              </a:rPr>
              <a:t>str</a:t>
            </a:r>
            <a:r>
              <a:rPr sz="2400" b="1" i="0" u="none" cap="none">
                <a:solidFill>
                  <a:srgbClr val="E06666"/>
                </a:solidFill>
                <a:latin typeface="Courier"/>
                <a:ea typeface="Courier"/>
                <a:cs typeface="Courier"/>
              </a:rPr>
              <a:t>' object does not 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E06666"/>
                </a:solidFill>
                <a:latin typeface="Courier"/>
                <a:ea typeface="Courier"/>
                <a:cs typeface="Courier"/>
              </a:rPr>
              <a:t>support item assignment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x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fruit</a:t>
            </a: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.lower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x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banana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lotto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</a:t>
            </a:r>
            <a:r>
              <a:rPr sz="24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[2, 14, 26, 41, 63]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lotto</a:t>
            </a:r>
            <a:r>
              <a:rPr sz="24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[2, 14, 26, 41, 63]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lotto</a:t>
            </a:r>
            <a:r>
              <a:rPr sz="24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[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2</a:t>
            </a:r>
            <a:r>
              <a:rPr sz="24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]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28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lotto</a:t>
            </a:r>
            <a:r>
              <a:rPr sz="24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[2, 14, </a:t>
            </a: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28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, 41, 63]</a:t>
            </a:r>
          </a:p>
        </p:txBody>
      </p:sp>
    </p:spTree>
    <p:extLst>
      <p:ext uri="{BB962C8B-B14F-4D97-AF65-F5344CB8AC3E}">
        <p14:creationId xmlns:p14="http://schemas.microsoft.com/office/powerpoint/2010/main" val="202094430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4" name="Shape 234">
            <a:extLst xmlns:a="http://schemas.openxmlformats.org/drawingml/2006/main">
              <a:ext uri="{FF2B5EF4-FFF2-40B4-BE49-F238E27FC236}">
                <a16:creationId xmlns:a16="http://schemas.microsoft.com/office/drawing/2014/main" id="{526442D5-FCF1-4AB5-B089-5A3AF91A1F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55700" y="789709"/>
            <a:ext cx="13144500" cy="1750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How Long is a List?</a:t>
            </a:r>
          </a:p>
        </p:txBody>
      </p:sp>
      <p:sp>
        <p:nvSpPr>
          <p:cNvPr id="235" name="Shape 235">
            <a:extLst xmlns:a="http://schemas.openxmlformats.org/drawingml/2006/main">
              <a:ext uri="{FF2B5EF4-FFF2-40B4-BE49-F238E27FC236}">
                <a16:creationId xmlns:a16="http://schemas.microsoft.com/office/drawing/2014/main" id="{5BC90BD5-BDD8-4A60-A088-946B245EA1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2603500"/>
            <a:ext cx="7488238" cy="5702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The 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len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()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function takes a </a:t>
            </a:r>
            <a:r>
              <a:rPr sz="3400" u="none" cap="none">
                <a:solidFill>
                  <a:srgbClr val="FF7F00"/>
                </a:solidFill>
                <a:latin typeface="Arial"/>
                <a:ea typeface="Arial"/>
                <a:cs typeface="Arial"/>
              </a:rPr>
              <a:t>list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as a parameter and returns the number of </a:t>
            </a:r>
            <a:r>
              <a:rPr sz="3400" u="none" cap="none">
                <a:solidFill>
                  <a:srgbClr val="00FFFF"/>
                </a:solidFill>
                <a:latin typeface="Arial"/>
                <a:ea typeface="Arial"/>
                <a:cs typeface="Arial"/>
              </a:rPr>
              <a:t>elements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in the </a:t>
            </a:r>
            <a:r>
              <a:rPr sz="3400" u="none" cap="none">
                <a:solidFill>
                  <a:srgbClr val="FF7F00"/>
                </a:solidFill>
                <a:latin typeface="Arial"/>
                <a:ea typeface="Arial"/>
                <a:cs typeface="Arial"/>
              </a:rPr>
              <a:t>list</a:t>
            </a:r>
          </a:p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Actually 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len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()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tells us the number of elements of any set or sequence (such as a string...)</a:t>
            </a:r>
          </a:p>
        </p:txBody>
      </p:sp>
      <p:sp>
        <p:nvSpPr>
          <p:cNvPr id="236" name="Shape 236">
            <a:extLst xmlns:a="http://schemas.openxmlformats.org/drawingml/2006/main">
              <a:ext uri="{FF2B5EF4-FFF2-40B4-BE49-F238E27FC236}">
                <a16:creationId xmlns:a16="http://schemas.microsoft.com/office/drawing/2014/main" id="{6C1D188F-589F-4B33-A11F-22AC86E2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43301"/>
            <a:ext cx="6119700" cy="397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greet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'Hello Bob</a:t>
            </a:r>
            <a:r>
              <a:rPr sz="30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'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len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greet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9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x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[ 1, 2, 'joe', 99]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len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x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4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636393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1" name="Shape 241">
            <a:extLst xmlns:a="http://schemas.openxmlformats.org/drawingml/2006/main">
              <a:ext uri="{FF2B5EF4-FFF2-40B4-BE49-F238E27FC236}">
                <a16:creationId xmlns:a16="http://schemas.microsoft.com/office/drawing/2014/main" id="{FC28F204-FEE9-4CC9-AE8C-AE45B2EE7B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Using range() in Python 3</a:t>
            </a:r>
          </a:p>
        </p:txBody>
      </p:sp>
      <p:sp>
        <p:nvSpPr>
          <p:cNvPr id="242" name="Shape 242">
            <a:extLst xmlns:a="http://schemas.openxmlformats.org/drawingml/2006/main">
              <a:ext uri="{FF2B5EF4-FFF2-40B4-BE49-F238E27FC236}">
                <a16:creationId xmlns:a16="http://schemas.microsoft.com/office/drawing/2014/main" id="{3BDC1B1E-3C73-49D1-BFE4-B602BCABA3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2603500"/>
            <a:ext cx="5916613" cy="5702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range() returns a range object that represents numbers from zero up to, but not including, the stop value</a:t>
            </a:r>
          </a:p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We can build an index loop with for and an integer index</a:t>
            </a:r>
          </a:p>
        </p:txBody>
      </p:sp>
      <p:sp>
        <p:nvSpPr>
          <p:cNvPr id="243" name="Shape 243">
            <a:extLst xmlns:a="http://schemas.openxmlformats.org/drawingml/2006/main">
              <a:ext uri="{FF2B5EF4-FFF2-40B4-BE49-F238E27FC236}">
                <a16:creationId xmlns:a16="http://schemas.microsoft.com/office/drawing/2014/main" id="{2DE37BFF-9E73-4438-BE18-85D53EFF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200" y="3022600"/>
            <a:ext cx="7843799" cy="443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print(range(4))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range(0, 4)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print(list(range(4)))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[0, 1, 2, 3]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friends = ['Joseph', 'Glenn', 'Sally']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print(len(friends))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3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print(list(range(len(friends))))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[0, 1, 2]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</a:p>
        </p:txBody>
      </p:sp>
    </p:spTree>
    <p:extLst>
      <p:ext uri="{BB962C8B-B14F-4D97-AF65-F5344CB8AC3E}">
        <p14:creationId xmlns:p14="http://schemas.microsoft.com/office/powerpoint/2010/main" val="594983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8" name="Shape 248">
            <a:extLst xmlns:a="http://schemas.openxmlformats.org/drawingml/2006/main">
              <a:ext uri="{FF2B5EF4-FFF2-40B4-BE49-F238E27FC236}">
                <a16:creationId xmlns:a16="http://schemas.microsoft.com/office/drawing/2014/main" id="{C07EC163-8C21-4678-BB9A-097D664DB4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A Tale of Two Loops...</a:t>
            </a:r>
          </a:p>
        </p:txBody>
      </p:sp>
      <p:sp>
        <p:nvSpPr>
          <p:cNvPr id="249" name="Shape 249">
            <a:extLst xmlns:a="http://schemas.openxmlformats.org/drawingml/2006/main">
              <a:ext uri="{FF2B5EF4-FFF2-40B4-BE49-F238E27FC236}">
                <a16:creationId xmlns:a16="http://schemas.microsoft.com/office/drawing/2014/main" id="{3EED89FB-67E5-463C-8008-83F960AD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950" y="3118400"/>
            <a:ext cx="7175700" cy="359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friends = ['Joseph', 'Glenn', 'Sally']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for friend in friends: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   print('Happy New Year:', friend)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for i in range(len(friends)):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   friend = friends[i]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   print('Happy New Year:', friend)</a:t>
            </a:r>
          </a:p>
        </p:txBody>
      </p:sp>
      <p:sp>
        <p:nvSpPr>
          <p:cNvPr id="250" name="Shape 250">
            <a:extLst xmlns:a="http://schemas.openxmlformats.org/drawingml/2006/main">
              <a:ext uri="{FF2B5EF4-FFF2-40B4-BE49-F238E27FC236}">
                <a16:creationId xmlns:a16="http://schemas.microsoft.com/office/drawing/2014/main" id="{A4938A79-0748-43AA-9869-9CE61EA2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25" y="5652525"/>
            <a:ext cx="5591699" cy="213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Happy New Year: Joseph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Happy New Year: Glenn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Happy New Year: Sally</a:t>
            </a:r>
          </a:p>
        </p:txBody>
      </p:sp>
      <p:sp>
        <p:nvSpPr>
          <p:cNvPr id="251" name="Shape 251">
            <a:extLst xmlns:a="http://schemas.openxmlformats.org/drawingml/2006/main">
              <a:ext uri="{FF2B5EF4-FFF2-40B4-BE49-F238E27FC236}">
                <a16:creationId xmlns:a16="http://schemas.microsoft.com/office/drawing/2014/main" id="{F4002805-943C-4530-9068-55A83941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25" y="2509825"/>
            <a:ext cx="7888800" cy="33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friends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['Joseph', 'Glenn', 'Sally']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len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friends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</a:t>
            </a:r>
            <a:r>
              <a:rPr sz="24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3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list(range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len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(friends)))</a:t>
            </a:r>
            <a:r>
              <a:rPr sz="24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[0, 1, 2]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</a:p>
        </p:txBody>
      </p:sp>
    </p:spTree>
    <p:extLst>
      <p:ext uri="{BB962C8B-B14F-4D97-AF65-F5344CB8AC3E}">
        <p14:creationId xmlns:p14="http://schemas.microsoft.com/office/powerpoint/2010/main" val="74509206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6" name="Shape 256">
            <a:extLst xmlns:a="http://schemas.openxmlformats.org/drawingml/2006/main">
              <a:ext uri="{FF2B5EF4-FFF2-40B4-BE49-F238E27FC236}">
                <a16:creationId xmlns:a16="http://schemas.microsoft.com/office/drawing/2014/main" id="{618C8BCC-1A62-4DCC-95D9-5F29295900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00FFFF"/>
                </a:solidFill>
                <a:latin typeface="Arial"/>
                <a:ea typeface="Arial"/>
                <a:cs typeface="Arial"/>
              </a:rPr>
              <a:t>Concatenating</a:t>
            </a:r>
            <a:r>
              <a:rPr sz="7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</a:t>
            </a: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Lists Using </a:t>
            </a:r>
            <a:r>
              <a:rPr sz="7600" u="none" cap="none">
                <a:solidFill>
                  <a:srgbClr val="00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57" name="Shape 257">
            <a:extLst xmlns:a="http://schemas.openxmlformats.org/drawingml/2006/main">
              <a:ext uri="{FF2B5EF4-FFF2-40B4-BE49-F238E27FC236}">
                <a16:creationId xmlns:a16="http://schemas.microsoft.com/office/drawing/2014/main" id="{82B72CE6-EC06-4A24-BF6A-C63255E32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78000" y="2933702"/>
            <a:ext cx="5410200" cy="2603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We can create a new list by adding two ex</a:t>
            </a:r>
            <a:r>
              <a:rPr sz="3600">
                <a:solidFill>
                  <a:schemeClr val="lt1"/>
                </a:solidFill>
                <a:latin typeface="Arial"/>
                <a:ea typeface="Arial"/>
                <a:cs typeface="Arial"/>
              </a:rPr>
              <a:t>is</a:t>
            </a: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ting lists together</a:t>
            </a:r>
          </a:p>
        </p:txBody>
      </p:sp>
      <p:sp>
        <p:nvSpPr>
          <p:cNvPr id="258" name="Shape 258">
            <a:extLst xmlns:a="http://schemas.openxmlformats.org/drawingml/2006/main">
              <a:ext uri="{FF2B5EF4-FFF2-40B4-BE49-F238E27FC236}">
                <a16:creationId xmlns:a16="http://schemas.microsoft.com/office/drawing/2014/main" id="{B2B48CE6-0264-4F34-B0AF-F1A00D34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4275" y="2714100"/>
            <a:ext cx="4965900" cy="387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a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[1, 2, 3]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 b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[4, 5, 6]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c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a </a:t>
            </a:r>
            <a:r>
              <a:rPr sz="30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+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 b</a:t>
            </a:r>
          </a:p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c</a:t>
            </a:r>
            <a:r>
              <a:rPr sz="32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[1, 2, 3, 4, 5, 6]</a:t>
            </a:r>
          </a:p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a</a:t>
            </a:r>
            <a:r>
              <a:rPr sz="32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[1, 2, 3]</a:t>
            </a:r>
          </a:p>
        </p:txBody>
      </p:sp>
    </p:spTree>
    <p:extLst>
      <p:ext uri="{BB962C8B-B14F-4D97-AF65-F5344CB8AC3E}">
        <p14:creationId xmlns:p14="http://schemas.microsoft.com/office/powerpoint/2010/main" val="81125740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3" name="Shape 263">
            <a:extLst xmlns:a="http://schemas.openxmlformats.org/drawingml/2006/main">
              <a:ext uri="{FF2B5EF4-FFF2-40B4-BE49-F238E27FC236}">
                <a16:creationId xmlns:a16="http://schemas.microsoft.com/office/drawing/2014/main" id="{45EFA280-1ED0-4C7D-A287-DF599FC725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Lists Can Be </a:t>
            </a:r>
            <a:r>
              <a:rPr sz="7600" u="none" cap="none">
                <a:solidFill>
                  <a:srgbClr val="00FFFF"/>
                </a:solidFill>
                <a:latin typeface="Arial"/>
                <a:ea typeface="Arial"/>
                <a:cs typeface="Arial"/>
              </a:rPr>
              <a:t>Sliced</a:t>
            </a:r>
            <a:r>
              <a:rPr sz="76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 </a:t>
            </a: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Using</a:t>
            </a:r>
            <a:r>
              <a:rPr sz="7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</a:t>
            </a:r>
            <a:r>
              <a:rPr sz="7600" u="none" cap="none">
                <a:solidFill>
                  <a:srgbClr val="00FFFF"/>
                </a:solidFill>
                <a:latin typeface="Arial"/>
                <a:ea typeface="Arial"/>
                <a:cs typeface="Arial"/>
              </a:rPr>
              <a:t>:</a:t>
            </a:r>
          </a:p>
        </p:txBody>
      </p:sp>
      <p:sp>
        <p:nvSpPr>
          <p:cNvPr id="264" name="Shape 264">
            <a:extLst xmlns:a="http://schemas.openxmlformats.org/drawingml/2006/main">
              <a:ext uri="{FF2B5EF4-FFF2-40B4-BE49-F238E27FC236}">
                <a16:creationId xmlns:a16="http://schemas.microsoft.com/office/drawing/2014/main" id="{2C090A11-6035-4031-95F3-535CF063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200" y="2875600"/>
            <a:ext cx="6941699" cy="498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t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[9, 41, 12, 3, 74, 15]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t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[1</a:t>
            </a:r>
            <a:r>
              <a:rPr sz="30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: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3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[41,12]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t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</a:t>
            </a:r>
            <a:r>
              <a:rPr sz="30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: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4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[9, 41, 12, 3]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t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[3</a:t>
            </a:r>
            <a:r>
              <a:rPr sz="30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: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[3, 74, 15]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t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</a:t>
            </a:r>
            <a:r>
              <a:rPr sz="30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: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[9, 41, 12, 3, 74, 15]</a:t>
            </a:r>
          </a:p>
        </p:txBody>
      </p:sp>
      <p:sp>
        <p:nvSpPr>
          <p:cNvPr id="265" name="Shape 265">
            <a:extLst xmlns:a="http://schemas.openxmlformats.org/drawingml/2006/main">
              <a:ext uri="{FF2B5EF4-FFF2-40B4-BE49-F238E27FC236}">
                <a16:creationId xmlns:a16="http://schemas.microsoft.com/office/drawing/2014/main" id="{F831B4C1-995F-4EE5-878D-2BE55557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725" y="4033425"/>
            <a:ext cx="5465399" cy="219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u="none" cap="none">
                <a:solidFill>
                  <a:srgbClr val="00FF00"/>
                </a:solidFill>
                <a:latin typeface="Arial"/>
                <a:ea typeface="Arial"/>
                <a:cs typeface="Arial"/>
              </a:rPr>
              <a:t>Remember</a:t>
            </a: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:  Just like in strings, the second number is </a:t>
            </a:r>
            <a:r>
              <a:rPr sz="3600">
                <a:solidFill>
                  <a:schemeClr val="lt1"/>
                </a:solidFill>
                <a:latin typeface="Arial"/>
                <a:ea typeface="Arial"/>
                <a:cs typeface="Arial"/>
              </a:rPr>
              <a:t>“</a:t>
            </a:r>
            <a:r>
              <a:rPr sz="36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up to but not including</a:t>
            </a:r>
            <a:r>
              <a:rPr sz="3600">
                <a:solidFill>
                  <a:schemeClr val="lt1"/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696332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0" name="Shape 270">
            <a:extLst xmlns:a="http://schemas.openxmlformats.org/drawingml/2006/main">
              <a:ext uri="{FF2B5EF4-FFF2-40B4-BE49-F238E27FC236}">
                <a16:creationId xmlns:a16="http://schemas.microsoft.com/office/drawing/2014/main" id="{7627F297-560E-4D0B-BD4E-5F8B341876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List Methods</a:t>
            </a:r>
          </a:p>
        </p:txBody>
      </p:sp>
      <p:sp>
        <p:nvSpPr>
          <p:cNvPr id="271" name="Shape 271">
            <a:extLst xmlns:a="http://schemas.openxmlformats.org/drawingml/2006/main">
              <a:ext uri="{FF2B5EF4-FFF2-40B4-BE49-F238E27FC236}">
                <a16:creationId xmlns:a16="http://schemas.microsoft.com/office/drawing/2014/main" id="{DCA5913B-E722-41AC-9E4C-7CB3588B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8550" y="3110400"/>
            <a:ext cx="12042899" cy="3225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x = list()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type(x)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&lt;class 'list'&gt;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dir(x)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[... 'append', 'count', 'extend', 'index', 'insert', 'pop', 'remove', 'reverse', 'sort']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</a:p>
        </p:txBody>
      </p:sp>
      <p:sp>
        <p:nvSpPr>
          <p:cNvPr id="272" name="Shape 272">
            <a:extLst xmlns:a="http://schemas.openxmlformats.org/drawingml/2006/main">
              <a:ext uri="{FF2B5EF4-FFF2-40B4-BE49-F238E27FC236}">
                <a16:creationId xmlns:a16="http://schemas.microsoft.com/office/drawing/2014/main" id="{8F91CC64-B09B-40F5-AFF7-AEC3D465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200" y="7123112"/>
            <a:ext cx="10416900" cy="6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u="sng" cap="none">
                <a:solidFill>
                  <a:srgbClr val="FFFF00"/>
                </a:solidFill>
                <a:latin typeface="Arial"/>
                <a:ea typeface="Arial"/>
                <a:cs typeface="Arial"/>
                <a:hlinkClick xmlns:r="http://schemas.openxmlformats.org/officeDocument/2006/relationships" r:id="R38460fb6a9d34a21"/>
              </a:rPr>
              <a:t>https://docs.python.org/3/tutorial/datastructures.html</a:t>
            </a:r>
          </a:p>
        </p:txBody>
      </p:sp>
    </p:spTree>
    <p:extLst>
      <p:ext uri="{BB962C8B-B14F-4D97-AF65-F5344CB8AC3E}">
        <p14:creationId xmlns:p14="http://schemas.microsoft.com/office/powerpoint/2010/main" val="135539482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7" name="Shape 277">
            <a:extLst xmlns:a="http://schemas.openxmlformats.org/drawingml/2006/main">
              <a:ext uri="{FF2B5EF4-FFF2-40B4-BE49-F238E27FC236}">
                <a16:creationId xmlns:a16="http://schemas.microsoft.com/office/drawing/2014/main" id="{988F3B45-BB98-427B-9EFC-0B26CA63FC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Building a </a:t>
            </a:r>
            <a:r>
              <a:rPr sz="7600">
                <a:solidFill>
                  <a:srgbClr val="FFD966"/>
                </a:solidFill>
                <a:latin typeface="Arial"/>
                <a:ea typeface="Arial"/>
                <a:cs typeface="Arial"/>
              </a:rPr>
              <a:t>L</a:t>
            </a: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ist from </a:t>
            </a:r>
            <a:r>
              <a:rPr sz="7600">
                <a:solidFill>
                  <a:srgbClr val="FFD966"/>
                </a:solidFill>
                <a:latin typeface="Arial"/>
                <a:ea typeface="Arial"/>
                <a:cs typeface="Arial"/>
              </a:rPr>
              <a:t>S</a:t>
            </a: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cratch</a:t>
            </a:r>
          </a:p>
        </p:txBody>
      </p:sp>
      <p:sp>
        <p:nvSpPr>
          <p:cNvPr id="278" name="Shape 278">
            <a:extLst xmlns:a="http://schemas.openxmlformats.org/drawingml/2006/main">
              <a:ext uri="{FF2B5EF4-FFF2-40B4-BE49-F238E27FC236}">
                <a16:creationId xmlns:a16="http://schemas.microsoft.com/office/drawing/2014/main" id="{27D9D9A8-BD6C-4DCC-905F-DC0E63DC69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2603500"/>
            <a:ext cx="6302375" cy="5702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We can create an empty </a:t>
            </a:r>
            <a:r>
              <a:rPr sz="3400" u="none" cap="none">
                <a:solidFill>
                  <a:srgbClr val="00FF00"/>
                </a:solidFill>
                <a:latin typeface="Arial"/>
                <a:ea typeface="Arial"/>
                <a:cs typeface="Arial"/>
              </a:rPr>
              <a:t>list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and then add elements using the 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append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method</a:t>
            </a:r>
          </a:p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The </a:t>
            </a:r>
            <a:r>
              <a:rPr sz="3400" u="none" cap="none">
                <a:solidFill>
                  <a:srgbClr val="00FF00"/>
                </a:solidFill>
                <a:latin typeface="Arial"/>
                <a:ea typeface="Arial"/>
                <a:cs typeface="Arial"/>
              </a:rPr>
              <a:t>list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stays in order and new elements are 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added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at the end of the </a:t>
            </a:r>
            <a:r>
              <a:rPr sz="3400" u="none" cap="none">
                <a:solidFill>
                  <a:srgbClr val="00FF00"/>
                </a:solidFill>
                <a:latin typeface="Arial"/>
                <a:ea typeface="Arial"/>
                <a:cs typeface="Arial"/>
              </a:rPr>
              <a:t>list</a:t>
            </a:r>
          </a:p>
        </p:txBody>
      </p:sp>
      <p:sp>
        <p:nvSpPr>
          <p:cNvPr id="279" name="Shape 279">
            <a:extLst xmlns:a="http://schemas.openxmlformats.org/drawingml/2006/main">
              <a:ext uri="{FF2B5EF4-FFF2-40B4-BE49-F238E27FC236}">
                <a16:creationId xmlns:a16="http://schemas.microsoft.com/office/drawing/2014/main" id="{076DCF1B-11BF-44E9-A964-B50EEAC5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175" y="2990850"/>
            <a:ext cx="7455599" cy="443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stuff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list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stuff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.append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('book')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stuff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.append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(99)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stuff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['book', 99]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stuff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.append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('cookie')</a:t>
            </a:r>
          </a:p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stuff</a:t>
            </a:r>
            <a:r>
              <a:rPr sz="30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['book', 99, 'cookie']</a:t>
            </a:r>
          </a:p>
        </p:txBody>
      </p:sp>
    </p:spTree>
    <p:extLst>
      <p:ext uri="{BB962C8B-B14F-4D97-AF65-F5344CB8AC3E}">
        <p14:creationId xmlns:p14="http://schemas.microsoft.com/office/powerpoint/2010/main" val="14763045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4" name="Shape 284">
            <a:extLst xmlns:a="http://schemas.openxmlformats.org/drawingml/2006/main">
              <a:ext uri="{FF2B5EF4-FFF2-40B4-BE49-F238E27FC236}">
                <a16:creationId xmlns:a16="http://schemas.microsoft.com/office/drawing/2014/main" id="{5E5BEAE9-A50C-44D9-8A75-BDF828F083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Is Something in a List?</a:t>
            </a:r>
          </a:p>
        </p:txBody>
      </p:sp>
      <p:sp>
        <p:nvSpPr>
          <p:cNvPr id="285" name="Shape 285">
            <a:extLst xmlns:a="http://schemas.openxmlformats.org/drawingml/2006/main">
              <a:ext uri="{FF2B5EF4-FFF2-40B4-BE49-F238E27FC236}">
                <a16:creationId xmlns:a16="http://schemas.microsoft.com/office/drawing/2014/main" id="{27D7EEAD-3496-4B11-A689-2F96E9F3BC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2603500"/>
            <a:ext cx="6573838" cy="5702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Python provides two </a:t>
            </a:r>
            <a:r>
              <a:rPr sz="34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operators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that let you check if an item is in a list</a:t>
            </a:r>
          </a:p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These are logical operators that return 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True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or 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They do not modify the list</a:t>
            </a:r>
          </a:p>
        </p:txBody>
      </p:sp>
      <p:sp>
        <p:nvSpPr>
          <p:cNvPr id="286" name="Shape 286">
            <a:extLst xmlns:a="http://schemas.openxmlformats.org/drawingml/2006/main">
              <a:ext uri="{FF2B5EF4-FFF2-40B4-BE49-F238E27FC236}">
                <a16:creationId xmlns:a16="http://schemas.microsoft.com/office/drawing/2014/main" id="{C0A7E25F-D493-40DB-8FDC-CCB67248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38" y="2940050"/>
            <a:ext cx="7131013" cy="443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some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[1, 9, 21, 10, 16]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9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in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some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True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15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in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some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False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20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not in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some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True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</a:p>
        </p:txBody>
      </p:sp>
    </p:spTree>
    <p:extLst>
      <p:ext uri="{BB962C8B-B14F-4D97-AF65-F5344CB8AC3E}">
        <p14:creationId xmlns:p14="http://schemas.microsoft.com/office/powerpoint/2010/main" val="61764954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1" name="Shape 291">
            <a:extLst xmlns:a="http://schemas.openxmlformats.org/drawingml/2006/main">
              <a:ext uri="{FF2B5EF4-FFF2-40B4-BE49-F238E27FC236}">
                <a16:creationId xmlns:a16="http://schemas.microsoft.com/office/drawing/2014/main" id="{14AD5949-DA02-4CE3-B882-1B9A4667C8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8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Lists are in Order</a:t>
            </a:r>
          </a:p>
        </p:txBody>
      </p:sp>
      <p:sp>
        <p:nvSpPr>
          <p:cNvPr id="292" name="Shape 292">
            <a:extLst xmlns:a="http://schemas.openxmlformats.org/drawingml/2006/main">
              <a:ext uri="{FF2B5EF4-FFF2-40B4-BE49-F238E27FC236}">
                <a16:creationId xmlns:a16="http://schemas.microsoft.com/office/drawing/2014/main" id="{FEF4929B-CC80-44E1-AF9A-B17D707FFF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2301" y="2603500"/>
            <a:ext cx="5524500" cy="5702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marL="1104900" indent="-5906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A list can hold many items and keeps those items in order until we change that order</a:t>
            </a:r>
          </a:p>
          <a:p xmlns:a="http://schemas.openxmlformats.org/drawingml/2006/main">
            <a:pPr marL="1104900" indent="-590677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har char="•"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A list can be sorted</a:t>
            </a:r>
          </a:p>
          <a:p xmlns:a="http://schemas.openxmlformats.org/drawingml/2006/main">
            <a:pPr marL="1104900" indent="-590677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har char="•"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The sort() method changes the list in place</a:t>
            </a:r>
          </a:p>
        </p:txBody>
      </p:sp>
      <p:sp>
        <p:nvSpPr>
          <p:cNvPr id="293" name="Shape 293">
            <a:extLst xmlns:a="http://schemas.openxmlformats.org/drawingml/2006/main">
              <a:ext uri="{FF2B5EF4-FFF2-40B4-BE49-F238E27FC236}">
                <a16:creationId xmlns:a16="http://schemas.microsoft.com/office/drawing/2014/main" id="{D0F84B17-4CD7-4A8F-96E1-A4CCEF90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475" y="3041075"/>
            <a:ext cx="8976525" cy="436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friends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[ 'Joseph', 'Glenn', 'Sally' 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friends</a:t>
            </a:r>
            <a:r>
              <a:rPr sz="26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.sort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()</a:t>
            </a:r>
          </a:p>
          <a:p xmlns:a="http://schemas.openxmlformats.org/drawingml/2006/main">
            <a:pPr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friends</a:t>
            </a:r>
            <a:r>
              <a:rPr sz="26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['Glenn', 'Joseph', 'Sally']</a:t>
            </a:r>
          </a:p>
          <a:p xmlns:a="http://schemas.openxmlformats.org/drawingml/2006/main">
            <a:pPr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</a:t>
            </a:r>
            <a:r>
              <a:rPr sz="26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friends</a:t>
            </a:r>
            <a:r>
              <a:rPr sz="26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[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1</a:t>
            </a:r>
            <a:r>
              <a:rPr sz="26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]</a:t>
            </a:r>
            <a:r>
              <a:rPr sz="26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Joseph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</a:p>
        </p:txBody>
      </p:sp>
    </p:spTree>
    <p:extLst>
      <p:ext uri="{BB962C8B-B14F-4D97-AF65-F5344CB8AC3E}">
        <p14:creationId xmlns:p14="http://schemas.microsoft.com/office/powerpoint/2010/main" val="184792234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8" name="Shape 298">
            <a:extLst xmlns:a="http://schemas.openxmlformats.org/drawingml/2006/main">
              <a:ext uri="{FF2B5EF4-FFF2-40B4-BE49-F238E27FC236}">
                <a16:creationId xmlns:a16="http://schemas.microsoft.com/office/drawing/2014/main" id="{9917757F-A940-44F1-AFE9-15E28667E0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Built</a:t>
            </a:r>
            <a:r>
              <a:rPr sz="7600">
                <a:solidFill>
                  <a:srgbClr val="FFD966"/>
                </a:solidFill>
                <a:latin typeface="Arial"/>
                <a:ea typeface="Arial"/>
                <a:cs typeface="Arial"/>
              </a:rPr>
              <a:t>-</a:t>
            </a: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in Functions and Lists</a:t>
            </a:r>
          </a:p>
        </p:txBody>
      </p:sp>
      <p:sp>
        <p:nvSpPr>
          <p:cNvPr id="299" name="Shape 299">
            <a:extLst xmlns:a="http://schemas.openxmlformats.org/drawingml/2006/main">
              <a:ext uri="{FF2B5EF4-FFF2-40B4-BE49-F238E27FC236}">
                <a16:creationId xmlns:a16="http://schemas.microsoft.com/office/drawing/2014/main" id="{B8EF9319-8452-469D-B7AC-150501AE82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2603501"/>
            <a:ext cx="5802313" cy="494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There are a number of 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functions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built into </a:t>
            </a:r>
            <a:r>
              <a:rPr sz="34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Python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that take </a:t>
            </a:r>
            <a:r>
              <a:rPr sz="3400" u="none" cap="none">
                <a:solidFill>
                  <a:srgbClr val="00FF00"/>
                </a:solidFill>
                <a:latin typeface="Arial"/>
                <a:ea typeface="Arial"/>
                <a:cs typeface="Arial"/>
              </a:rPr>
              <a:t>lists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as parameters</a:t>
            </a:r>
          </a:p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Remember the loops we built?  These are much simpler.</a:t>
            </a:r>
          </a:p>
        </p:txBody>
      </p:sp>
      <p:sp>
        <p:nvSpPr>
          <p:cNvPr id="300" name="Shape 300">
            <a:extLst xmlns:a="http://schemas.openxmlformats.org/drawingml/2006/main">
              <a:ext uri="{FF2B5EF4-FFF2-40B4-BE49-F238E27FC236}">
                <a16:creationId xmlns:a16="http://schemas.microsoft.com/office/drawing/2014/main" id="{3CF15E03-F909-4913-89C6-6B9B022F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600" y="2455850"/>
            <a:ext cx="7885799" cy="5540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nums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[3, 41, 12, 9, 74, 15]</a:t>
            </a:r>
          </a:p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len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nums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</a:t>
            </a:r>
            <a:r>
              <a:rPr sz="30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6</a:t>
            </a:r>
          </a:p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max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nums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</a:t>
            </a:r>
            <a:r>
              <a:rPr sz="30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74</a:t>
            </a:r>
          </a:p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min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nums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</a:t>
            </a:r>
            <a:r>
              <a:rPr sz="30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3</a:t>
            </a:r>
          </a:p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</a:t>
            </a:r>
            <a:r>
              <a:rPr sz="30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sum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nums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</a:t>
            </a:r>
            <a:r>
              <a:rPr sz="30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154</a:t>
            </a:r>
          </a:p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</a:t>
            </a:r>
            <a:r>
              <a:rPr sz="30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sum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nums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)/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len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nums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</a:t>
            </a:r>
            <a:r>
              <a:rPr sz="30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25.6</a:t>
            </a:r>
          </a:p>
        </p:txBody>
      </p:sp>
    </p:spTree>
    <p:extLst>
      <p:ext uri="{BB962C8B-B14F-4D97-AF65-F5344CB8AC3E}">
        <p14:creationId xmlns:p14="http://schemas.microsoft.com/office/powerpoint/2010/main" val="211947709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5" name="Shape 305">
            <a:extLst xmlns:a="http://schemas.openxmlformats.org/drawingml/2006/main">
              <a:ext uri="{FF2B5EF4-FFF2-40B4-BE49-F238E27FC236}">
                <a16:creationId xmlns:a16="http://schemas.microsoft.com/office/drawing/2014/main" id="{ADE4AAA9-672A-4ED3-9FC9-3B4A642B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550" y="4800524"/>
            <a:ext cx="8127900" cy="398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numlist = list()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while True: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    inp = input('Enter a number: ')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    if inp == 'done':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        break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    value = float(inp)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   numlist.append(value)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/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average = sum(numlist) / len(numlist)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print('Average:', average)</a:t>
            </a:r>
          </a:p>
        </p:txBody>
      </p:sp>
      <p:sp>
        <p:nvSpPr>
          <p:cNvPr id="306" name="Shape 306">
            <a:extLst xmlns:a="http://schemas.openxmlformats.org/drawingml/2006/main">
              <a:ext uri="{FF2B5EF4-FFF2-40B4-BE49-F238E27FC236}">
                <a16:creationId xmlns:a16="http://schemas.microsoft.com/office/drawing/2014/main" id="{B7F7E0BE-1216-40F1-AE34-601F63B2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125" y="1031888"/>
            <a:ext cx="8127900" cy="4835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total = 0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count = 0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while True: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    inp = input('Enter a number: ')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    if inp == 'done':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        break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    value = float(inp)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    total = total + value     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   count = count + 1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/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average = total / count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print('Average:', average)</a:t>
            </a:r>
          </a:p>
        </p:txBody>
      </p:sp>
      <p:sp>
        <p:nvSpPr>
          <p:cNvPr id="307" name="Shape 307">
            <a:extLst xmlns:a="http://schemas.openxmlformats.org/drawingml/2006/main">
              <a:ext uri="{FF2B5EF4-FFF2-40B4-BE49-F238E27FC236}">
                <a16:creationId xmlns:a16="http://schemas.microsoft.com/office/drawing/2014/main" id="{5D39FD5B-99AD-4243-B3CE-F5E588D1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725" y="828688"/>
            <a:ext cx="5435700" cy="28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Enter a number: 3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Enter a number: 9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Enter a number: 5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Enter a number: done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Average: 5.666666666666667</a:t>
            </a:r>
          </a:p>
        </p:txBody>
      </p:sp>
    </p:spTree>
    <p:extLst>
      <p:ext uri="{BB962C8B-B14F-4D97-AF65-F5344CB8AC3E}">
        <p14:creationId xmlns:p14="http://schemas.microsoft.com/office/powerpoint/2010/main" val="9404061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2" name="Shape 312">
            <a:extLst xmlns:a="http://schemas.openxmlformats.org/drawingml/2006/main">
              <a:ext uri="{FF2B5EF4-FFF2-40B4-BE49-F238E27FC236}">
                <a16:creationId xmlns:a16="http://schemas.microsoft.com/office/drawing/2014/main" id="{BCF64006-6F1C-45B1-8F22-2A2D2112E7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Best Friends: Strings and Lists</a:t>
            </a:r>
          </a:p>
        </p:txBody>
      </p:sp>
      <p:sp>
        <p:nvSpPr>
          <p:cNvPr id="313" name="Shape 313">
            <a:extLst xmlns:a="http://schemas.openxmlformats.org/drawingml/2006/main">
              <a:ext uri="{FF2B5EF4-FFF2-40B4-BE49-F238E27FC236}">
                <a16:creationId xmlns:a16="http://schemas.microsoft.com/office/drawing/2014/main" id="{2C8F49C7-CDF5-4406-A33C-5D60E6FA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2349500"/>
            <a:ext cx="6749100" cy="443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abc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=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'With three words</a:t>
            </a:r>
            <a:r>
              <a:rPr sz="3000" b="1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'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stuff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=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abc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.split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()</a:t>
            </a:r>
          </a:p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</a:t>
            </a:r>
            <a:r>
              <a:rPr sz="30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stuff</a:t>
            </a:r>
            <a:r>
              <a:rPr sz="30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['With', 'three', 'words']</a:t>
            </a:r>
          </a:p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len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stuff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</a:t>
            </a:r>
            <a:r>
              <a:rPr sz="30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3</a:t>
            </a:r>
          </a:p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stuff</a:t>
            </a:r>
            <a:r>
              <a:rPr sz="30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[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0</a:t>
            </a:r>
            <a:r>
              <a:rPr sz="30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]</a:t>
            </a:r>
            <a:r>
              <a:rPr sz="30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With</a:t>
            </a:r>
          </a:p>
        </p:txBody>
      </p:sp>
      <p:sp>
        <p:nvSpPr>
          <p:cNvPr id="314" name="Shape 314">
            <a:extLst xmlns:a="http://schemas.openxmlformats.org/drawingml/2006/main">
              <a:ext uri="{FF2B5EF4-FFF2-40B4-BE49-F238E27FC236}">
                <a16:creationId xmlns:a16="http://schemas.microsoft.com/office/drawing/2014/main" id="{9206D623-5E68-437B-B6FA-98779F16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2292350"/>
            <a:ext cx="6450900" cy="498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print(stuff)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['With', 'three', 'words']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for w in stuff:</a:t>
            </a:r>
          </a:p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...     print(w)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...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With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three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words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</a:p>
        </p:txBody>
      </p:sp>
      <p:sp>
        <p:nvSpPr>
          <p:cNvPr id="315" name="Shape 315">
            <a:extLst xmlns:a="http://schemas.openxmlformats.org/drawingml/2006/main">
              <a:ext uri="{FF2B5EF4-FFF2-40B4-BE49-F238E27FC236}">
                <a16:creationId xmlns:a16="http://schemas.microsoft.com/office/drawing/2014/main" id="{D9FC427D-534F-4FAA-9559-B21C3943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94550"/>
            <a:ext cx="15125699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Split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breaks a string into parts and produces a list of strings.  We think of these as words.  We can </a:t>
            </a:r>
            <a:r>
              <a:rPr sz="3400" u="none" cap="none">
                <a:solidFill>
                  <a:srgbClr val="00FFFF"/>
                </a:solidFill>
                <a:latin typeface="Arial"/>
                <a:ea typeface="Arial"/>
                <a:cs typeface="Arial"/>
              </a:rPr>
              <a:t>access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a particular word or </a:t>
            </a:r>
            <a:r>
              <a:rPr sz="34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loop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through all the words.</a:t>
            </a:r>
          </a:p>
        </p:txBody>
      </p:sp>
    </p:spTree>
    <p:extLst>
      <p:ext uri="{BB962C8B-B14F-4D97-AF65-F5344CB8AC3E}">
        <p14:creationId xmlns:p14="http://schemas.microsoft.com/office/powerpoint/2010/main" val="172338924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Shape 320">
            <a:extLst xmlns:a="http://schemas.openxmlformats.org/drawingml/2006/main">
              <a:ext uri="{FF2B5EF4-FFF2-40B4-BE49-F238E27FC236}">
                <a16:creationId xmlns:a16="http://schemas.microsoft.com/office/drawing/2014/main" id="{559262F6-52D8-42EF-BE2F-FCC054E3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199" y="1085851"/>
            <a:ext cx="9364664" cy="702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line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=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'A lot               of spaces</a:t>
            </a:r>
            <a:r>
              <a:rPr sz="2600" b="1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'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etc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=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line.</a:t>
            </a:r>
            <a:r>
              <a:rPr sz="26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split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etc</a:t>
            </a:r>
            <a:r>
              <a:rPr sz="26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['A', 'lot', 'of', 'spaces']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line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=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'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first</a:t>
            </a:r>
            <a:r>
              <a:rPr sz="26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;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second</a:t>
            </a:r>
            <a:r>
              <a:rPr sz="26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;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third</a:t>
            </a:r>
            <a:r>
              <a:rPr sz="2600" b="1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'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thing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=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line</a:t>
            </a:r>
            <a:r>
              <a:rPr sz="26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.split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()</a:t>
            </a:r>
          </a:p>
          <a:p xmlns:a="http://schemas.openxmlformats.org/drawingml/2006/main">
            <a:pPr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thing</a:t>
            </a:r>
            <a:r>
              <a:rPr sz="26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['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first;second;third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']</a:t>
            </a:r>
          </a:p>
          <a:p xmlns:a="http://schemas.openxmlformats.org/drawingml/2006/main">
            <a:pPr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6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len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thing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</a:t>
            </a:r>
            <a:r>
              <a:rPr sz="26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1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thing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=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line</a:t>
            </a:r>
            <a:r>
              <a:rPr sz="26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.split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26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';'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thing</a:t>
            </a:r>
            <a:r>
              <a:rPr sz="26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['first', 'second', 'third']</a:t>
            </a:r>
          </a:p>
          <a:p xmlns:a="http://schemas.openxmlformats.org/drawingml/2006/main">
            <a:pPr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6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len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thing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</a:t>
            </a:r>
            <a:r>
              <a:rPr sz="26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3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</a:p>
        </p:txBody>
      </p:sp>
      <p:sp>
        <p:nvSpPr>
          <p:cNvPr id="321" name="Shape 321">
            <a:extLst xmlns:a="http://schemas.openxmlformats.org/drawingml/2006/main">
              <a:ext uri="{FF2B5EF4-FFF2-40B4-BE49-F238E27FC236}">
                <a16:creationId xmlns:a16="http://schemas.microsoft.com/office/drawing/2014/main" id="{38F2984D-73CE-4213-8FC7-B1164BC9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644" y="2031185"/>
            <a:ext cx="6490311" cy="4676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457200" indent="-4191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30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When you do not specify a </a:t>
            </a:r>
            <a:r>
              <a:rPr sz="3000" u="none" cap="none">
                <a:solidFill>
                  <a:srgbClr val="00FFFF"/>
                </a:solidFill>
                <a:latin typeface="Arial"/>
                <a:ea typeface="Arial"/>
                <a:cs typeface="Arial"/>
              </a:rPr>
              <a:t>delimiter</a:t>
            </a:r>
            <a:r>
              <a:rPr sz="30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, multiple spaces are treated like</a:t>
            </a:r>
            <a:r>
              <a:rPr sz="3000">
                <a:solidFill>
                  <a:schemeClr val="lt1"/>
                </a:solidFill>
                <a:latin typeface="Arial"/>
                <a:ea typeface="Arial"/>
                <a:cs typeface="Arial"/>
              </a:rPr>
              <a:t> </a:t>
            </a:r>
            <a:r>
              <a:rPr sz="30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one delimiter</a:t>
            </a:r>
          </a:p>
          <a:p xmlns:a="http://schemas.openxmlformats.org/drawingml/2006/main">
            <a:pPr marL="457200" indent="-4191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</a:p>
          <a:p xmlns:a="http://schemas.openxmlformats.org/drawingml/2006/main">
            <a:pPr marL="457200" indent="-4191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30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You can specify what </a:t>
            </a:r>
            <a:r>
              <a:rPr sz="3000" u="none" cap="none">
                <a:solidFill>
                  <a:srgbClr val="00FFFF"/>
                </a:solidFill>
                <a:latin typeface="Arial"/>
                <a:ea typeface="Arial"/>
                <a:cs typeface="Arial"/>
              </a:rPr>
              <a:t>delimiter</a:t>
            </a:r>
            <a:r>
              <a:rPr sz="30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character to use in the </a:t>
            </a:r>
            <a:r>
              <a:rPr sz="30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splitting</a:t>
            </a:r>
          </a:p>
        </p:txBody>
      </p:sp>
    </p:spTree>
    <p:extLst>
      <p:ext uri="{BB962C8B-B14F-4D97-AF65-F5344CB8AC3E}">
        <p14:creationId xmlns:p14="http://schemas.microsoft.com/office/powerpoint/2010/main" val="172914381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6" name="Shape 326">
            <a:extLst xmlns:a="http://schemas.openxmlformats.org/drawingml/2006/main">
              <a:ext uri="{FF2B5EF4-FFF2-40B4-BE49-F238E27FC236}">
                <a16:creationId xmlns:a16="http://schemas.microsoft.com/office/drawing/2014/main" id="{B82A58CE-D2AB-4855-A97F-40FBE32E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075" y="2058975"/>
            <a:ext cx="8889299" cy="33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 fhand = open('mbox-short.txt')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 for line in fhand: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    line = line.rstrip()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    if not line.startswith('From '):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        continue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    words = line.split()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    print(words[2])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7" name="Shape 327">
            <a:extLst xmlns:a="http://schemas.openxmlformats.org/drawingml/2006/main">
              <a:ext uri="{FF2B5EF4-FFF2-40B4-BE49-F238E27FC236}">
                <a16:creationId xmlns:a16="http://schemas.microsoft.com/office/drawing/2014/main" id="{BA16F8CC-71B0-468E-9EEA-61FEDFE2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8200" y="2330450"/>
            <a:ext cx="816000" cy="276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Sat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Fri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Fri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Fri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    ...</a:t>
            </a:r>
          </a:p>
        </p:txBody>
      </p:sp>
      <p:sp>
        <p:nvSpPr>
          <p:cNvPr id="328" name="Shape 328">
            <a:extLst xmlns:a="http://schemas.openxmlformats.org/drawingml/2006/main">
              <a:ext uri="{FF2B5EF4-FFF2-40B4-BE49-F238E27FC236}">
                <a16:creationId xmlns:a16="http://schemas.microsoft.com/office/drawing/2014/main" id="{AF0BFDB4-59D2-4D18-842A-9125BF96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50" y="945775"/>
            <a:ext cx="13070099" cy="673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From stephen.marquard@uct.ac.za </a:t>
            </a:r>
            <a:r>
              <a:rPr sz="3600" b="0" i="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Sat</a:t>
            </a:r>
            <a:r>
              <a:rPr sz="36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Jan  5 09:14:16 2008</a:t>
            </a:r>
          </a:p>
        </p:txBody>
      </p:sp>
      <p:sp>
        <p:nvSpPr>
          <p:cNvPr id="329" name="Shape 329">
            <a:extLst xmlns:a="http://schemas.openxmlformats.org/drawingml/2006/main">
              <a:ext uri="{FF2B5EF4-FFF2-40B4-BE49-F238E27FC236}">
                <a16:creationId xmlns:a16="http://schemas.microsoft.com/office/drawing/2014/main" id="{DC654774-79BF-4BE4-8F53-8A2C1699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375" y="6000750"/>
            <a:ext cx="14283299" cy="276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line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'From 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stephen.marquard@uct.ac.za</a:t>
            </a:r>
            <a:r>
              <a:rPr sz="24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Sat Jan  5 09:14:16 2008'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words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line</a:t>
            </a: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.split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()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words</a:t>
            </a:r>
            <a:r>
              <a:rPr sz="24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['From', '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stephen.marquard@uct.ac.za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', 'Sat', 'Jan', '5', '09:14:16', '2008']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</a:p>
        </p:txBody>
      </p:sp>
    </p:spTree>
    <p:extLst>
      <p:ext uri="{BB962C8B-B14F-4D97-AF65-F5344CB8AC3E}">
        <p14:creationId xmlns:p14="http://schemas.microsoft.com/office/powerpoint/2010/main" val="147463927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4" name="Shape 334">
            <a:extLst xmlns:a="http://schemas.openxmlformats.org/drawingml/2006/main">
              <a:ext uri="{FF2B5EF4-FFF2-40B4-BE49-F238E27FC236}">
                <a16:creationId xmlns:a16="http://schemas.microsoft.com/office/drawing/2014/main" id="{4A5A5569-5B38-4A39-8A20-015BE71ED4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The Double Split Pattern</a:t>
            </a:r>
          </a:p>
        </p:txBody>
      </p:sp>
      <p:sp>
        <p:nvSpPr>
          <p:cNvPr id="335" name="Shape 335">
            <a:extLst xmlns:a="http://schemas.openxmlformats.org/drawingml/2006/main">
              <a:ext uri="{FF2B5EF4-FFF2-40B4-BE49-F238E27FC236}">
                <a16:creationId xmlns:a16="http://schemas.microsoft.com/office/drawing/2014/main" id="{966023B4-6385-4141-A958-F52D82C69F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2603501"/>
            <a:ext cx="13931900" cy="1296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Sometimes we split a line one way, and then grab one of the pieces of the line and split that piece again</a:t>
            </a:r>
          </a:p>
        </p:txBody>
      </p:sp>
      <p:sp>
        <p:nvSpPr>
          <p:cNvPr id="337" name="Shape 337">
            <a:extLst xmlns:a="http://schemas.openxmlformats.org/drawingml/2006/main">
              <a:ext uri="{FF2B5EF4-FFF2-40B4-BE49-F238E27FC236}">
                <a16:creationId xmlns:a16="http://schemas.microsoft.com/office/drawing/2014/main" id="{ECB0C40C-3162-4B9A-AB12-05098D0F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" y="4526525"/>
            <a:ext cx="13342799" cy="673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From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stephen.marquard@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uct.ac.za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000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Sat Jan  5 09:14:16 2008</a:t>
            </a:r>
          </a:p>
        </p:txBody>
      </p:sp>
      <p:sp>
        <p:nvSpPr>
          <p:cNvPr id="338" name="Shape 338">
            <a:extLst xmlns:a="http://schemas.openxmlformats.org/drawingml/2006/main">
              <a:ext uri="{FF2B5EF4-FFF2-40B4-BE49-F238E27FC236}">
                <a16:creationId xmlns:a16="http://schemas.microsoft.com/office/drawing/2014/main" id="{327F3AEB-1835-44EE-90B2-79CBCBC2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" y="5289200"/>
            <a:ext cx="5169599" cy="18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words = line.split()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email = words[1]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pieces = email.split('@')</a:t>
            </a:r>
          </a:p>
        </p:txBody>
      </p:sp>
    </p:spTree>
    <p:extLst>
      <p:ext uri="{BB962C8B-B14F-4D97-AF65-F5344CB8AC3E}">
        <p14:creationId xmlns:p14="http://schemas.microsoft.com/office/powerpoint/2010/main" val="37954644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3" name="Shape 343">
            <a:extLst xmlns:a="http://schemas.openxmlformats.org/drawingml/2006/main">
              <a:ext uri="{FF2B5EF4-FFF2-40B4-BE49-F238E27FC236}">
                <a16:creationId xmlns:a16="http://schemas.microsoft.com/office/drawing/2014/main" id="{DE5F6405-B879-4F57-83E8-C48DA0D56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The Double Split Pattern</a:t>
            </a:r>
          </a:p>
        </p:txBody>
      </p:sp>
      <p:sp>
        <p:nvSpPr>
          <p:cNvPr id="345" name="Shape 345">
            <a:extLst xmlns:a="http://schemas.openxmlformats.org/drawingml/2006/main">
              <a:ext uri="{FF2B5EF4-FFF2-40B4-BE49-F238E27FC236}">
                <a16:creationId xmlns:a16="http://schemas.microsoft.com/office/drawing/2014/main" id="{F6B142F5-FB57-4495-AC08-CCE75450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6425" y="5835725"/>
            <a:ext cx="6573899" cy="673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 </a:t>
            </a: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stephen.marquard@uct.ac.za</a:t>
            </a:r>
          </a:p>
        </p:txBody>
      </p:sp>
      <p:sp>
        <p:nvSpPr>
          <p:cNvPr id="346" name="Shape 346">
            <a:extLst xmlns:a="http://schemas.openxmlformats.org/drawingml/2006/main">
              <a:ext uri="{FF2B5EF4-FFF2-40B4-BE49-F238E27FC236}">
                <a16:creationId xmlns:a16="http://schemas.microsoft.com/office/drawing/2014/main" id="{FC492191-3F52-400B-9E90-5FEDA90E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" y="4506450"/>
            <a:ext cx="13182600" cy="673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From 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stephen.marquard@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uct.ac.za</a:t>
            </a:r>
            <a:r>
              <a:rPr sz="3000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Sat Jan  5 09:14:16 2008</a:t>
            </a:r>
          </a:p>
        </p:txBody>
      </p:sp>
      <p:sp>
        <p:nvSpPr>
          <p:cNvPr id="347" name="Shape 347">
            <a:extLst xmlns:a="http://schemas.openxmlformats.org/drawingml/2006/main">
              <a:ext uri="{FF2B5EF4-FFF2-40B4-BE49-F238E27FC236}">
                <a16:creationId xmlns:a16="http://schemas.microsoft.com/office/drawing/2014/main" id="{E2E49EE7-B551-4CDC-B50A-51B14665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" y="5289200"/>
            <a:ext cx="5169599" cy="18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words = line.split()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email = words[1]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pieces = email.split('@')</a:t>
            </a:r>
          </a:p>
        </p:txBody>
      </p:sp>
    </p:spTree>
    <p:extLst>
      <p:ext uri="{BB962C8B-B14F-4D97-AF65-F5344CB8AC3E}">
        <p14:creationId xmlns:p14="http://schemas.microsoft.com/office/powerpoint/2010/main" val="69359304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2" name="Shape 352">
            <a:extLst xmlns:a="http://schemas.openxmlformats.org/drawingml/2006/main">
              <a:ext uri="{FF2B5EF4-FFF2-40B4-BE49-F238E27FC236}">
                <a16:creationId xmlns:a16="http://schemas.microsoft.com/office/drawing/2014/main" id="{FC411F84-8D75-490A-B8BA-4571BBCA1F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The Double Split Pattern</a:t>
            </a:r>
          </a:p>
        </p:txBody>
      </p:sp>
      <p:sp>
        <p:nvSpPr>
          <p:cNvPr id="353" name="Shape 353">
            <a:extLst xmlns:a="http://schemas.openxmlformats.org/drawingml/2006/main">
              <a:ext uri="{FF2B5EF4-FFF2-40B4-BE49-F238E27FC236}">
                <a16:creationId xmlns:a16="http://schemas.microsoft.com/office/drawing/2014/main" id="{394F2357-6E54-4B53-9613-1AA8C588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275" y="6326775"/>
            <a:ext cx="6981300" cy="482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['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stephen.marquard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', '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uct.ac.za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']</a:t>
            </a:r>
          </a:p>
        </p:txBody>
      </p:sp>
      <p:sp>
        <p:nvSpPr>
          <p:cNvPr id="355" name="Shape 355">
            <a:extLst xmlns:a="http://schemas.openxmlformats.org/drawingml/2006/main">
              <a:ext uri="{FF2B5EF4-FFF2-40B4-BE49-F238E27FC236}">
                <a16:creationId xmlns:a16="http://schemas.microsoft.com/office/drawing/2014/main" id="{0267B38C-931C-4EDD-98C2-61ABA047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" y="4526525"/>
            <a:ext cx="13342799" cy="673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From 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stephen.marquard@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uct.ac.za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000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Sat Jan  5 09:14:16 2008</a:t>
            </a:r>
          </a:p>
        </p:txBody>
      </p:sp>
      <p:sp>
        <p:nvSpPr>
          <p:cNvPr id="356" name="Shape 356">
            <a:extLst xmlns:a="http://schemas.openxmlformats.org/drawingml/2006/main">
              <a:ext uri="{FF2B5EF4-FFF2-40B4-BE49-F238E27FC236}">
                <a16:creationId xmlns:a16="http://schemas.microsoft.com/office/drawing/2014/main" id="{46533B7B-E39D-4E2E-92B1-9131BF9C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" y="5441600"/>
            <a:ext cx="6179100" cy="18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words = line.split()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email = words[1]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pieces = email.split('@')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print(pieces[1])</a:t>
            </a:r>
          </a:p>
        </p:txBody>
      </p:sp>
      <p:sp>
        <p:nvSpPr>
          <p:cNvPr id="357" name="Shape 357">
            <a:extLst xmlns:a="http://schemas.openxmlformats.org/drawingml/2006/main">
              <a:ext uri="{FF2B5EF4-FFF2-40B4-BE49-F238E27FC236}">
                <a16:creationId xmlns:a16="http://schemas.microsoft.com/office/drawing/2014/main" id="{33938CC4-4547-4CC7-A465-15357A35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6425" y="5759525"/>
            <a:ext cx="6573899" cy="673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stephen.marquard@uct.ac.za</a:t>
            </a:r>
          </a:p>
        </p:txBody>
      </p:sp>
    </p:spTree>
    <p:extLst>
      <p:ext uri="{BB962C8B-B14F-4D97-AF65-F5344CB8AC3E}">
        <p14:creationId xmlns:p14="http://schemas.microsoft.com/office/powerpoint/2010/main" val="1717278898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2" name="Shape 362">
            <a:extLst xmlns:a="http://schemas.openxmlformats.org/drawingml/2006/main">
              <a:ext uri="{FF2B5EF4-FFF2-40B4-BE49-F238E27FC236}">
                <a16:creationId xmlns:a16="http://schemas.microsoft.com/office/drawing/2014/main" id="{471D82B6-B24D-4BE9-960D-DA4AC2B282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The Double Split Pattern</a:t>
            </a:r>
          </a:p>
        </p:txBody>
      </p:sp>
      <p:sp>
        <p:nvSpPr>
          <p:cNvPr id="364" name="Shape 364">
            <a:extLst xmlns:a="http://schemas.openxmlformats.org/drawingml/2006/main">
              <a:ext uri="{FF2B5EF4-FFF2-40B4-BE49-F238E27FC236}">
                <a16:creationId xmlns:a16="http://schemas.microsoft.com/office/drawing/2014/main" id="{5D0556AE-1006-4BAE-ACC1-924D7914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275" y="6326775"/>
            <a:ext cx="6981300" cy="482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['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stephen.marquard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', '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uct.ac.za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']</a:t>
            </a:r>
          </a:p>
        </p:txBody>
      </p:sp>
      <p:sp>
        <p:nvSpPr>
          <p:cNvPr id="365" name="Shape 365">
            <a:extLst xmlns:a="http://schemas.openxmlformats.org/drawingml/2006/main">
              <a:ext uri="{FF2B5EF4-FFF2-40B4-BE49-F238E27FC236}">
                <a16:creationId xmlns:a16="http://schemas.microsoft.com/office/drawing/2014/main" id="{4996386E-EEE2-4BAF-A374-A86A5C72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" y="4526525"/>
            <a:ext cx="13342799" cy="673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From 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stephen.marquard@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uct.ac.za</a:t>
            </a:r>
            <a:r>
              <a:rPr sz="3000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Sat Jan  5 09:14:16 2008</a:t>
            </a:r>
          </a:p>
        </p:txBody>
      </p:sp>
      <p:sp>
        <p:nvSpPr>
          <p:cNvPr id="366" name="Shape 366">
            <a:extLst xmlns:a="http://schemas.openxmlformats.org/drawingml/2006/main">
              <a:ext uri="{FF2B5EF4-FFF2-40B4-BE49-F238E27FC236}">
                <a16:creationId xmlns:a16="http://schemas.microsoft.com/office/drawing/2014/main" id="{AE2278FB-DBEF-4A61-A99C-19AEC335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" y="5594000"/>
            <a:ext cx="6179100" cy="18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words = </a:t>
            </a:r>
            <a:r>
              <a:rPr sz="24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line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.split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email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words[1]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pieces</a:t>
            </a:r>
            <a:r>
              <a:rPr sz="24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</a:t>
            </a:r>
            <a:r>
              <a:rPr sz="24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email.split</a:t>
            </a:r>
            <a:r>
              <a:rPr sz="24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('@')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400" b="1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pieces[1]</a:t>
            </a:r>
            <a:r>
              <a:rPr sz="2400" b="1">
                <a:solidFill>
                  <a:schemeClr val="bg1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7" name="Shape 367">
            <a:extLst xmlns:a="http://schemas.openxmlformats.org/drawingml/2006/main">
              <a:ext uri="{FF2B5EF4-FFF2-40B4-BE49-F238E27FC236}">
                <a16:creationId xmlns:a16="http://schemas.microsoft.com/office/drawing/2014/main" id="{3C395314-CED2-4E1D-AA32-11361679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6425" y="5759525"/>
            <a:ext cx="6573899" cy="673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stephen.marquard@uct.ac.za</a:t>
            </a:r>
          </a:p>
        </p:txBody>
      </p:sp>
      <p:sp>
        <p:nvSpPr>
          <p:cNvPr id="368" name="Shape 368">
            <a:extLst xmlns:a="http://schemas.openxmlformats.org/drawingml/2006/main">
              <a:ext uri="{FF2B5EF4-FFF2-40B4-BE49-F238E27FC236}">
                <a16:creationId xmlns:a16="http://schemas.microsoft.com/office/drawing/2014/main" id="{EE95E218-F1B7-4598-B9B6-DE8480E3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300" y="6766900"/>
            <a:ext cx="2729099" cy="548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'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uct.ac.za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24263949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3" name="Shape 373">
            <a:extLst xmlns:a="http://schemas.openxmlformats.org/drawingml/2006/main">
              <a:ext uri="{FF2B5EF4-FFF2-40B4-BE49-F238E27FC236}">
                <a16:creationId xmlns:a16="http://schemas.microsoft.com/office/drawing/2014/main" id="{786E6741-7144-4788-8236-03C06AAA68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List Summary</a:t>
            </a:r>
          </a:p>
        </p:txBody>
      </p:sp>
      <p:sp>
        <p:nvSpPr>
          <p:cNvPr id="375" name="Shape 375">
            <a:extLst xmlns:a="http://schemas.openxmlformats.org/drawingml/2006/main">
              <a:ext uri="{FF2B5EF4-FFF2-40B4-BE49-F238E27FC236}">
                <a16:creationId xmlns:a16="http://schemas.microsoft.com/office/drawing/2014/main" id="{DD3298A6-178A-4683-85E4-9F4B2B17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275" y="2733900"/>
            <a:ext cx="7450500" cy="511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marL="685800" indent="-394462">
              <a:spcBef>
                <a:spcPts val="0"/>
              </a:spcBef>
              <a:buChar char="•"/>
            </a:pPr>
            <a:r>
              <a:rPr sz="360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Concept of a collection</a:t>
            </a:r>
          </a:p>
          <a:p xmlns:a="http://schemas.openxmlformats.org/drawingml/2006/main">
            <a:pPr marL="685800" indent="-394462">
              <a:spcBef>
                <a:spcPts val="3500"/>
              </a:spcBef>
              <a:buChar char="•"/>
            </a:pPr>
            <a:r>
              <a:rPr sz="360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Lists and for loops</a:t>
            </a:r>
          </a:p>
          <a:p xmlns:a="http://schemas.openxmlformats.org/drawingml/2006/main">
            <a:pPr marL="685800" indent="-394462">
              <a:spcBef>
                <a:spcPts val="3500"/>
              </a:spcBef>
              <a:buChar char="•"/>
            </a:pPr>
            <a:r>
              <a:rPr sz="3600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Indexing and lookup</a:t>
            </a:r>
          </a:p>
          <a:p xmlns:a="http://schemas.openxmlformats.org/drawingml/2006/main">
            <a:pPr marL="685800" indent="-394462">
              <a:spcBef>
                <a:spcPts val="3500"/>
              </a:spcBef>
              <a:buChar char="•"/>
            </a:pPr>
            <a:r>
              <a:rPr sz="360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 mutability</a:t>
            </a:r>
          </a:p>
          <a:p xmlns:a="http://schemas.openxmlformats.org/drawingml/2006/main">
            <a:pPr marL="685800" indent="-394462">
              <a:spcBef>
                <a:spcPts val="3500"/>
              </a:spcBef>
              <a:buChar char="•"/>
            </a:pPr>
            <a:r>
              <a:rPr sz="3600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Built-in functions: len, min, max, sum</a:t>
            </a:r>
          </a:p>
        </p:txBody>
      </p:sp>
      <p:sp>
        <p:nvSpPr>
          <p:cNvPr id="376" name="Shape 376">
            <a:extLst xmlns:a="http://schemas.openxmlformats.org/drawingml/2006/main">
              <a:ext uri="{FF2B5EF4-FFF2-40B4-BE49-F238E27FC236}">
                <a16:creationId xmlns:a16="http://schemas.microsoft.com/office/drawing/2014/main" id="{A63D764E-B24A-4710-AA60-83CEC53E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975" y="2733900"/>
            <a:ext cx="7565400" cy="511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marL="685800" indent="-394462">
              <a:spcBef>
                <a:spcPts val="3500"/>
              </a:spcBef>
              <a:buChar char="•"/>
            </a:pPr>
            <a:r>
              <a:rPr sz="3600">
                <a:solidFill>
                  <a:srgbClr val="FFFFFF"/>
                </a:solidFill>
                <a:latin typeface="Arial"/>
                <a:ea typeface="Arial"/>
                <a:cs typeface="Arial"/>
              </a:rPr>
              <a:t>Slicing lists</a:t>
            </a:r>
          </a:p>
          <a:p xmlns:a="http://schemas.openxmlformats.org/drawingml/2006/main">
            <a:pPr marL="685800" indent="-394462">
              <a:spcBef>
                <a:spcPts val="3500"/>
              </a:spcBef>
              <a:buChar char="•"/>
            </a:pPr>
            <a:r>
              <a:rPr sz="360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 methods: append, remove, sort</a:t>
            </a:r>
          </a:p>
          <a:p xmlns:a="http://schemas.openxmlformats.org/drawingml/2006/main">
            <a:pPr marL="685800" indent="-394462">
              <a:spcBef>
                <a:spcPts val="3500"/>
              </a:spcBef>
              <a:buChar char="•"/>
            </a:pPr>
            <a:r>
              <a:rPr sz="3600">
                <a:solidFill>
                  <a:srgbClr val="FFFFFF"/>
                </a:solidFill>
                <a:latin typeface="Arial"/>
                <a:ea typeface="Arial"/>
                <a:cs typeface="Arial"/>
              </a:rPr>
              <a:t>Sorting lists</a:t>
            </a:r>
          </a:p>
          <a:p xmlns:a="http://schemas.openxmlformats.org/drawingml/2006/main">
            <a:pPr marL="685800" indent="-394462">
              <a:spcBef>
                <a:spcPts val="3500"/>
              </a:spcBef>
              <a:buChar char="•"/>
            </a:pPr>
            <a:r>
              <a:rPr sz="3600">
                <a:solidFill>
                  <a:srgbClr val="FFFFFF"/>
                </a:solidFill>
                <a:latin typeface="Arial"/>
                <a:ea typeface="Arial"/>
                <a:cs typeface="Arial"/>
              </a:rPr>
              <a:t>Splitting strings into lists of words</a:t>
            </a:r>
          </a:p>
          <a:p xmlns:a="http://schemas.openxmlformats.org/drawingml/2006/main">
            <a:pPr marL="685800" indent="-394462">
              <a:spcBef>
                <a:spcPts val="3500"/>
              </a:spcBef>
              <a:buChar char="•"/>
            </a:pPr>
            <a:r>
              <a:rPr sz="3600">
                <a:solidFill>
                  <a:srgbClr val="FFFFFF"/>
                </a:solidFill>
                <a:latin typeface="Arial"/>
                <a:ea typeface="Arial"/>
                <a:cs typeface="Arial"/>
              </a:rPr>
              <a:t>Using split to parse strings</a:t>
            </a:r>
          </a:p>
        </p:txBody>
      </p:sp>
    </p:spTree>
    <p:extLst>
      <p:ext uri="{BB962C8B-B14F-4D97-AF65-F5344CB8AC3E}">
        <p14:creationId xmlns:p14="http://schemas.microsoft.com/office/powerpoint/2010/main" val="411630305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1" name="Shape 381">
            <a:extLst xmlns:a="http://schemas.openxmlformats.org/drawingml/2006/main">
              <a:ext uri="{FF2B5EF4-FFF2-40B4-BE49-F238E27FC236}">
                <a16:creationId xmlns:a16="http://schemas.microsoft.com/office/drawing/2014/main" id="{94FEA70C-A423-459F-A1F7-C6A0AB08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" y="1155705"/>
            <a:ext cx="13932000" cy="8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3600">
                <a:solidFill>
                  <a:srgbClr val="FFFF00"/>
                </a:solidFill>
              </a:rPr>
              <a:t>Acknowledgements / Contributions</a:t>
            </a:r>
          </a:p>
        </p:txBody>
      </p:sp>
      <p:sp>
        <p:nvSpPr>
          <p:cNvPr id="382" name="Shape 382">
            <a:extLst xmlns:a="http://schemas.openxmlformats.org/drawingml/2006/main">
              <a:ext uri="{FF2B5EF4-FFF2-40B4-BE49-F238E27FC236}">
                <a16:creationId xmlns:a16="http://schemas.microsoft.com/office/drawing/2014/main" id="{8F2F0514-B90E-46DE-B55B-A8C8F8BB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00" y="2296131"/>
            <a:ext cx="6797699" cy="5819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  <a:r>
              <a:rPr sz="1800">
                <a:solidFill>
                  <a:srgbClr val="FFFFFF"/>
                </a:solidFill>
              </a:rPr>
              <a:t>These slides are Copyright 2010-  Charles R. Severance (</a:t>
            </a:r>
            <a:r>
              <a:rPr sz="1800" u="sng">
                <a:solidFill>
                  <a:srgbClr val="FFFF00"/>
                </a:solidFill>
                <a:hlinkClick xmlns:r="http://schemas.openxmlformats.org/officeDocument/2006/relationships" r:id="R06646d9d3fec4d71"/>
              </a:rPr>
              <a:t>www.dr-chuck.com</a:t>
            </a:r>
            <a:r>
              <a:rPr sz="1800">
                <a:solidFill>
                  <a:srgbClr val="FFFFFF"/>
                </a:solidFill>
              </a:rPr>
              <a:t>) of the University of Michigan School of Information and </a:t>
            </a:r>
            <a:r>
              <a:rPr sz="1800" u="sng">
                <a:solidFill>
                  <a:srgbClr val="FFFF00"/>
                </a:solidFill>
                <a:hlinkClick xmlns:r="http://schemas.openxmlformats.org/officeDocument/2006/relationships" r:id="R4920bbcd4ad54fad"/>
              </a:rPr>
              <a:t>open.umich.edu</a:t>
            </a:r>
            <a:r>
              <a:rPr sz="1800">
                <a:solidFill>
                  <a:srgbClr val="FFFFFF"/>
                </a:solidFill>
              </a:rPr>
              <a:t> and 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 xmlns:a="http://schemas.openxmlformats.org/drawingml/2006/main">
            <a:pPr>
              <a:spcBef>
                <a:spcPts val="0"/>
              </a:spcBef>
              <a:buNone/>
            </a:pPr>
          </a:p>
          <a:p xmlns:a="http://schemas.openxmlformats.org/drawingml/2006/main">
            <a:pPr>
              <a:spcBef>
                <a:spcPts val="0"/>
              </a:spcBef>
              <a:buNone/>
            </a:pPr>
            <a:r>
              <a:rPr sz="1800">
                <a:solidFill>
                  <a:srgbClr val="FFFFFF"/>
                </a:solidFill>
              </a:rPr>
              <a:t>Initial Development: Charles Severance, University of Michigan School of Information</a:t>
            </a:r>
          </a:p>
          <a:p xmlns:a="http://schemas.openxmlformats.org/drawingml/2006/main">
            <a:pPr>
              <a:spcBef>
                <a:spcPts val="0"/>
              </a:spcBef>
              <a:buNone/>
            </a:pPr>
          </a:p>
          <a:p xmlns:a="http://schemas.openxmlformats.org/drawingml/2006/main">
            <a:pPr>
              <a:spcBef>
                <a:spcPts val="0"/>
              </a:spcBef>
              <a:buNone/>
            </a:pPr>
            <a:r>
              <a:rPr sz="1800">
                <a:solidFill>
                  <a:srgbClr val="FFFFFF"/>
                </a:solidFill>
              </a:rPr>
              <a:t>… Insert new Contributors and Translators here</a:t>
            </a:r>
          </a:p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pic>
        <p:nvPicPr>
          <p:cNvPr id="390" name="Shape 38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524031e1cac42e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7900" y="1049055"/>
            <a:ext cx="1024800" cy="102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91" name="Shape 3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bb47220a8ae42b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897687" y="1227255"/>
            <a:ext cx="1968599" cy="668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85" name="Shape 385">
            <a:extLst xmlns:a="http://schemas.openxmlformats.org/drawingml/2006/main">
              <a:ext uri="{FF2B5EF4-FFF2-40B4-BE49-F238E27FC236}">
                <a16:creationId xmlns:a16="http://schemas.microsoft.com/office/drawing/2014/main" id="{9F211607-9A50-4C6B-B4D2-02BA65FB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4400" y="2426605"/>
            <a:ext cx="6797699" cy="5817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  <a:r>
              <a:rPr sz="1800">
                <a:solidFill>
                  <a:srgbClr val="FFFFFF"/>
                </a:solidFill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853377095"/>
      </p:ext>
    </p:extLst>
  </p:cSld>
</p:sld>
</file>

<file path=ppt/theme/theme1.xml><?xml version="1.0" encoding="utf-8"?>
<a:theme xmlns:a="http://schemas.openxmlformats.org/drawingml/2006/main" name="Title &amp; Subtitle">
  <a:themeElements>
    <a:clrScheme name="ChatGPT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2026-07-22T22:33:34.7860000Z</dcterms:created>
  <dcterms:modified xsi:type="dcterms:W3CDTF">2026-07-22T22:33:34.7860000Z</dcterms:modified>
</coreProperties>
</file>