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1f44cb7f934111" /><Relationship Type="http://schemas.openxmlformats.org/officeDocument/2006/relationships/extended-properties" Target="/docProps/app.xml" Id="R51147a48806c4637" /><Relationship Type="http://schemas.openxmlformats.org/officeDocument/2006/relationships/officeDocument" Target="/ppt/presentation.xml" Id="Ref507362100f4a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d24d6af5ac4367"/>
  </p:sldMasterIdLst>
  <p:notesMasterIdLst>
    <p:notesMasterId xmlns:r="http://schemas.openxmlformats.org/officeDocument/2006/relationships" r:id="Reb8fa72d75a94bcf"/>
  </p:notesMasterIdLst>
  <p:sldIdLst>
    <p:sldId xmlns:r="http://schemas.openxmlformats.org/officeDocument/2006/relationships" id="256" r:id="R93d666492d844200"/>
    <p:sldId xmlns:r="http://schemas.openxmlformats.org/officeDocument/2006/relationships" id="257" r:id="Ra474e04ad67c47b6"/>
    <p:sldId xmlns:r="http://schemas.openxmlformats.org/officeDocument/2006/relationships" id="258" r:id="R4d4a847613aa460b"/>
    <p:sldId xmlns:r="http://schemas.openxmlformats.org/officeDocument/2006/relationships" id="259" r:id="R38499108013a4768"/>
    <p:sldId xmlns:r="http://schemas.openxmlformats.org/officeDocument/2006/relationships" id="260" r:id="Rcdbfded050cf4d82"/>
    <p:sldId xmlns:r="http://schemas.openxmlformats.org/officeDocument/2006/relationships" id="261" r:id="Re263ae1518f34c79"/>
    <p:sldId xmlns:r="http://schemas.openxmlformats.org/officeDocument/2006/relationships" id="262" r:id="Rfef5345d69664ab3"/>
    <p:sldId xmlns:r="http://schemas.openxmlformats.org/officeDocument/2006/relationships" id="263" r:id="R31671a5dab634612"/>
    <p:sldId xmlns:r="http://schemas.openxmlformats.org/officeDocument/2006/relationships" id="264" r:id="Rcca6fe4a3fca4263"/>
    <p:sldId xmlns:r="http://schemas.openxmlformats.org/officeDocument/2006/relationships" id="265" r:id="R694acf31b0824968"/>
    <p:sldId xmlns:r="http://schemas.openxmlformats.org/officeDocument/2006/relationships" id="266" r:id="Rb8d22a99b85e480a"/>
    <p:sldId xmlns:r="http://schemas.openxmlformats.org/officeDocument/2006/relationships" id="267" r:id="R8717dbae08734b64"/>
    <p:sldId xmlns:r="http://schemas.openxmlformats.org/officeDocument/2006/relationships" id="268" r:id="R604c4a81e1294bf2"/>
    <p:sldId xmlns:r="http://schemas.openxmlformats.org/officeDocument/2006/relationships" id="269" r:id="R0d426ff606314d34"/>
    <p:sldId xmlns:r="http://schemas.openxmlformats.org/officeDocument/2006/relationships" id="270" r:id="Ra89f79b1fb7c4506"/>
    <p:sldId xmlns:r="http://schemas.openxmlformats.org/officeDocument/2006/relationships" id="271" r:id="Rd2f84d4e27da49e5"/>
    <p:sldId xmlns:r="http://schemas.openxmlformats.org/officeDocument/2006/relationships" id="272" r:id="Rb39e7e7f894a4cb8"/>
    <p:sldId xmlns:r="http://schemas.openxmlformats.org/officeDocument/2006/relationships" id="273" r:id="R770a5cce5dea47a5"/>
    <p:sldId xmlns:r="http://schemas.openxmlformats.org/officeDocument/2006/relationships" id="274" r:id="R29dc8bc3ad2740f3"/>
    <p:sldId xmlns:r="http://schemas.openxmlformats.org/officeDocument/2006/relationships" id="275" r:id="R049ebe654d4041c8"/>
    <p:sldId xmlns:r="http://schemas.openxmlformats.org/officeDocument/2006/relationships" id="276" r:id="R4de6e4ace130443d"/>
    <p:sldId xmlns:r="http://schemas.openxmlformats.org/officeDocument/2006/relationships" id="277" r:id="R35c44940e96148a5"/>
    <p:sldId xmlns:r="http://schemas.openxmlformats.org/officeDocument/2006/relationships" id="278" r:id="Rab7b906c757a4b7e"/>
    <p:sldId xmlns:r="http://schemas.openxmlformats.org/officeDocument/2006/relationships" id="279" r:id="Rbfeea81632b14c2a"/>
    <p:sldId xmlns:r="http://schemas.openxmlformats.org/officeDocument/2006/relationships" id="280" r:id="Rb7748cb0ec6a42d5"/>
    <p:sldId xmlns:r="http://schemas.openxmlformats.org/officeDocument/2006/relationships" id="281" r:id="Re9331ac1673e4d61"/>
    <p:sldId xmlns:r="http://schemas.openxmlformats.org/officeDocument/2006/relationships" id="282" r:id="R27dcdfcbecd74eef"/>
    <p:sldId xmlns:r="http://schemas.openxmlformats.org/officeDocument/2006/relationships" id="283" r:id="Re041b501d28b4b57"/>
    <p:sldId xmlns:r="http://schemas.openxmlformats.org/officeDocument/2006/relationships" id="284" r:id="R5f92736e4b504965"/>
  </p:sldIdLst>
  <p:sldSz cx="16256000" cy="9144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75bbf29429451f" /><Relationship Type="http://schemas.openxmlformats.org/officeDocument/2006/relationships/slideMaster" Target="/ppt/slideMasters/slideMaster1.xml" Id="R23d24d6af5ac4367" /><Relationship Type="http://schemas.openxmlformats.org/officeDocument/2006/relationships/notesMaster" Target="/ppt/notesMasters/notesMaster1.xml" Id="Reb8fa72d75a94bcf" /><Relationship Type="http://schemas.openxmlformats.org/officeDocument/2006/relationships/presProps" Target="/ppt/presProps.xml" Id="Reaa5920f2479463b" /><Relationship Type="http://schemas.openxmlformats.org/officeDocument/2006/relationships/tableStyles" Target="/ppt/tableStyles.xml" Id="R0a2f7afbe40e45f5" /><Relationship Type="http://schemas.openxmlformats.org/officeDocument/2006/relationships/slide" Target="/ppt/slides/slide1.xml" Id="R93d666492d844200" /><Relationship Type="http://schemas.openxmlformats.org/officeDocument/2006/relationships/slide" Target="/ppt/slides/slide2.xml" Id="Ra474e04ad67c47b6" /><Relationship Type="http://schemas.openxmlformats.org/officeDocument/2006/relationships/slide" Target="/ppt/slides/slide3.xml" Id="R4d4a847613aa460b" /><Relationship Type="http://schemas.openxmlformats.org/officeDocument/2006/relationships/slide" Target="/ppt/slides/slide4.xml" Id="R38499108013a4768" /><Relationship Type="http://schemas.openxmlformats.org/officeDocument/2006/relationships/slide" Target="/ppt/slides/slide5.xml" Id="Rcdbfded050cf4d82" /><Relationship Type="http://schemas.openxmlformats.org/officeDocument/2006/relationships/slide" Target="/ppt/slides/slide6.xml" Id="Re263ae1518f34c79" /><Relationship Type="http://schemas.openxmlformats.org/officeDocument/2006/relationships/slide" Target="/ppt/slides/slide7.xml" Id="Rfef5345d69664ab3" /><Relationship Type="http://schemas.openxmlformats.org/officeDocument/2006/relationships/slide" Target="/ppt/slides/slide8.xml" Id="R31671a5dab634612" /><Relationship Type="http://schemas.openxmlformats.org/officeDocument/2006/relationships/slide" Target="/ppt/slides/slide9.xml" Id="Rcca6fe4a3fca4263" /><Relationship Type="http://schemas.openxmlformats.org/officeDocument/2006/relationships/slide" Target="/ppt/slides/slide10.xml" Id="R694acf31b0824968" /><Relationship Type="http://schemas.openxmlformats.org/officeDocument/2006/relationships/slide" Target="/ppt/slides/slide11.xml" Id="Rb8d22a99b85e480a" /><Relationship Type="http://schemas.openxmlformats.org/officeDocument/2006/relationships/slide" Target="/ppt/slides/slide12.xml" Id="R8717dbae08734b64" /><Relationship Type="http://schemas.openxmlformats.org/officeDocument/2006/relationships/slide" Target="/ppt/slides/slide13.xml" Id="R604c4a81e1294bf2" /><Relationship Type="http://schemas.openxmlformats.org/officeDocument/2006/relationships/slide" Target="/ppt/slides/slide14.xml" Id="R0d426ff606314d34" /><Relationship Type="http://schemas.openxmlformats.org/officeDocument/2006/relationships/slide" Target="/ppt/slides/slide15.xml" Id="Ra89f79b1fb7c4506" /><Relationship Type="http://schemas.openxmlformats.org/officeDocument/2006/relationships/slide" Target="/ppt/slides/slide16.xml" Id="Rd2f84d4e27da49e5" /><Relationship Type="http://schemas.openxmlformats.org/officeDocument/2006/relationships/slide" Target="/ppt/slides/slide17.xml" Id="Rb39e7e7f894a4cb8" /><Relationship Type="http://schemas.openxmlformats.org/officeDocument/2006/relationships/slide" Target="/ppt/slides/slide18.xml" Id="R770a5cce5dea47a5" /><Relationship Type="http://schemas.openxmlformats.org/officeDocument/2006/relationships/slide" Target="/ppt/slides/slide19.xml" Id="R29dc8bc3ad2740f3" /><Relationship Type="http://schemas.openxmlformats.org/officeDocument/2006/relationships/slide" Target="/ppt/slides/slide20.xml" Id="R049ebe654d4041c8" /><Relationship Type="http://schemas.openxmlformats.org/officeDocument/2006/relationships/slide" Target="/ppt/slides/slide21.xml" Id="R4de6e4ace130443d" /><Relationship Type="http://schemas.openxmlformats.org/officeDocument/2006/relationships/slide" Target="/ppt/slides/slide22.xml" Id="R35c44940e96148a5" /><Relationship Type="http://schemas.openxmlformats.org/officeDocument/2006/relationships/slide" Target="/ppt/slides/slide23.xml" Id="Rab7b906c757a4b7e" /><Relationship Type="http://schemas.openxmlformats.org/officeDocument/2006/relationships/slide" Target="/ppt/slides/slide24.xml" Id="Rbfeea81632b14c2a" /><Relationship Type="http://schemas.openxmlformats.org/officeDocument/2006/relationships/slide" Target="/ppt/slides/slide25.xml" Id="Rb7748cb0ec6a42d5" /><Relationship Type="http://schemas.openxmlformats.org/officeDocument/2006/relationships/slide" Target="/ppt/slides/slide26.xml" Id="Re9331ac1673e4d61" /><Relationship Type="http://schemas.openxmlformats.org/officeDocument/2006/relationships/slide" Target="/ppt/slides/slide27.xml" Id="R27dcdfcbecd74eef" /><Relationship Type="http://schemas.openxmlformats.org/officeDocument/2006/relationships/slide" Target="/ppt/slides/slide28.xml" Id="Re041b501d28b4b57" /><Relationship Type="http://schemas.openxmlformats.org/officeDocument/2006/relationships/slide" Target="/ppt/slides/slide29.xml" Id="R5f92736e4b5049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9905b1ad4c40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Title &amp; Subtitle">
  <a:themeElements>
    <a:clrScheme name="ChatGPT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c1be70ef134bb9" /><Relationship Type="http://schemas.openxmlformats.org/officeDocument/2006/relationships/notesMaster" Target="/ppt/notesMasters/notesMaster1.xml" Id="Rbdd1d0258f2e45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cad5bd46484c34" /><Relationship Type="http://schemas.openxmlformats.org/officeDocument/2006/relationships/notesMaster" Target="/ppt/notesMasters/notesMaster1.xml" Id="Racf24190dc8541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acbf527ae440b5" /><Relationship Type="http://schemas.openxmlformats.org/officeDocument/2006/relationships/notesMaster" Target="/ppt/notesMasters/notesMaster1.xml" Id="R89a0c3adf58a47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5760d9bc53467a" /><Relationship Type="http://schemas.openxmlformats.org/officeDocument/2006/relationships/notesMaster" Target="/ppt/notesMasters/notesMaster1.xml" Id="R638cf08d3ed844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a8ae288e674236" /><Relationship Type="http://schemas.openxmlformats.org/officeDocument/2006/relationships/notesMaster" Target="/ppt/notesMasters/notesMaster1.xml" Id="Rf8dd9db33c0249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59d967824914fb5" /><Relationship Type="http://schemas.openxmlformats.org/officeDocument/2006/relationships/notesMaster" Target="/ppt/notesMasters/notesMaster1.xml" Id="R8f8f2d30d7534d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2b9496885ad4d15" /><Relationship Type="http://schemas.openxmlformats.org/officeDocument/2006/relationships/notesMaster" Target="/ppt/notesMasters/notesMaster1.xml" Id="Ree312cfc681c417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3e68d36fd04d69" /><Relationship Type="http://schemas.openxmlformats.org/officeDocument/2006/relationships/notesMaster" Target="/ppt/notesMasters/notesMaster1.xml" Id="Rd7f83e1ce75e4ab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ee9447e8c334924" /><Relationship Type="http://schemas.openxmlformats.org/officeDocument/2006/relationships/notesMaster" Target="/ppt/notesMasters/notesMaster1.xml" Id="R9e4c72d7c347423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347dbe2542b427a" /><Relationship Type="http://schemas.openxmlformats.org/officeDocument/2006/relationships/notesMaster" Target="/ppt/notesMasters/notesMaster1.xml" Id="R2ad219758f504c8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fa9acc30fae470a" /><Relationship Type="http://schemas.openxmlformats.org/officeDocument/2006/relationships/notesMaster" Target="/ppt/notesMasters/notesMaster1.xml" Id="R6ac114134fa2440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3a12f40f5294cd6" /><Relationship Type="http://schemas.openxmlformats.org/officeDocument/2006/relationships/notesMaster" Target="/ppt/notesMasters/notesMaster1.xml" Id="R5731d21392da453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7b4348c4ee04a03" /><Relationship Type="http://schemas.openxmlformats.org/officeDocument/2006/relationships/notesMaster" Target="/ppt/notesMasters/notesMaster1.xml" Id="R0f2dd11ca94c4ba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47a7b53c8004339" /><Relationship Type="http://schemas.openxmlformats.org/officeDocument/2006/relationships/notesMaster" Target="/ppt/notesMasters/notesMaster1.xml" Id="R606b0e3a0ca742f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711d3abd3f1468c" /><Relationship Type="http://schemas.openxmlformats.org/officeDocument/2006/relationships/notesMaster" Target="/ppt/notesMasters/notesMaster1.xml" Id="R9364a582febe41f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903b1fd161e4d32" /><Relationship Type="http://schemas.openxmlformats.org/officeDocument/2006/relationships/notesMaster" Target="/ppt/notesMasters/notesMaster1.xml" Id="R6c5c63f1fcbb4a6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5ec5c7356654190" /><Relationship Type="http://schemas.openxmlformats.org/officeDocument/2006/relationships/notesMaster" Target="/ppt/notesMasters/notesMaster1.xml" Id="R3d3ecc0224504f2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8e88d0d47ac41f4" /><Relationship Type="http://schemas.openxmlformats.org/officeDocument/2006/relationships/notesMaster" Target="/ppt/notesMasters/notesMaster1.xml" Id="Rf063547c09594dc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dbdb8e2c93543e1" /><Relationship Type="http://schemas.openxmlformats.org/officeDocument/2006/relationships/notesMaster" Target="/ppt/notesMasters/notesMaster1.xml" Id="Ra2c7502b800d4ea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7dfbd5e2e2f4506" /><Relationship Type="http://schemas.openxmlformats.org/officeDocument/2006/relationships/notesMaster" Target="/ppt/notesMasters/notesMaster1.xml" Id="R0105491e60454ac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6893279e31b42d4" /><Relationship Type="http://schemas.openxmlformats.org/officeDocument/2006/relationships/notesMaster" Target="/ppt/notesMasters/notesMaster1.xml" Id="R9e7cee5ac5164ed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ef60853f9884b0f" /><Relationship Type="http://schemas.openxmlformats.org/officeDocument/2006/relationships/notesMaster" Target="/ppt/notesMasters/notesMaster1.xml" Id="R10df008c8927468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9f318e571d84f1b" /><Relationship Type="http://schemas.openxmlformats.org/officeDocument/2006/relationships/notesMaster" Target="/ppt/notesMasters/notesMaster1.xml" Id="Rc0a1a559c87b4e5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490b8ea425e4bbf" /><Relationship Type="http://schemas.openxmlformats.org/officeDocument/2006/relationships/notesMaster" Target="/ppt/notesMasters/notesMaster1.xml" Id="R07af270058f34a8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b03a0f5e57f47de" /><Relationship Type="http://schemas.openxmlformats.org/officeDocument/2006/relationships/notesMaster" Target="/ppt/notesMasters/notesMaster1.xml" Id="Rfe406819f7d44bb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c71d071f80a435d" /><Relationship Type="http://schemas.openxmlformats.org/officeDocument/2006/relationships/notesMaster" Target="/ppt/notesMasters/notesMaster1.xml" Id="R19a9d099def14e7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56951ee0ca84c42" /><Relationship Type="http://schemas.openxmlformats.org/officeDocument/2006/relationships/notesMaster" Target="/ppt/notesMasters/notesMaster1.xml" Id="Re6c370153d794c2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76384389cc94e17" /><Relationship Type="http://schemas.openxmlformats.org/officeDocument/2006/relationships/notesMaster" Target="/ppt/notesMasters/notesMaster1.xml" Id="R55e36346c89d463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0b349de513c4889" /><Relationship Type="http://schemas.openxmlformats.org/officeDocument/2006/relationships/notesMaster" Target="/ppt/notesMasters/notesMaster1.xml" Id="R581cf483a79a46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  <a:r>
              <a:rPr>
                <a:solidFill>
                  <a:schemeClr val="dk2"/>
                </a:solidFill>
              </a:rPr>
              <a:t>Note from Chuck.  If you are using these materials, you can remove the UM logo and replace it with your own, but please retain the CC-BY logo on the first page as well as retain the acknowledgement page(s)</a:t>
            </a:r>
            <a:r>
              <a:rPr>
                <a:solidFill>
                  <a:schemeClr val="dk2"/>
                </a:solidFill>
              </a:rPr>
              <a:t> at the 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fe87eb3e314f3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cc8d5998604f9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35faf76b7d41a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dd036e7ae74b01" /></Relationships>
</file>

<file path=ppt/slideLayouts/slideLayout1.xml><?xml version="1.0" encoding="utf-8"?>
<p:sldLayout xmlns:p="http://schemas.openxmlformats.org/presentationml/2006/main" type="obj">
  <p:cSld name="Opening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Shape 39">
            <a:extLst xmlns:a="http://schemas.openxmlformats.org/drawingml/2006/main">
              <a:ext uri="{FF2B5EF4-FFF2-40B4-BE49-F238E27FC236}">
                <a16:creationId xmlns:a16="http://schemas.microsoft.com/office/drawing/2014/main" id="{756AC967-F689-4E55-B88D-7C25AF1DA4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55700" y="1536700"/>
            <a:ext cx="13931900" cy="30860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1425" tIns="91425" rIns="91425" bIns="91425" anchor="b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45720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91440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137160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182880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40" name="Shape 40">
            <a:extLst xmlns:a="http://schemas.openxmlformats.org/drawingml/2006/main">
              <a:ext uri="{FF2B5EF4-FFF2-40B4-BE49-F238E27FC236}">
                <a16:creationId xmlns:a16="http://schemas.microsoft.com/office/drawing/2014/main" id="{CF34FA1E-0ECB-4BB9-82BB-FF61CA69BB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55700" y="4711700"/>
            <a:ext cx="13931900" cy="105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1425" tIns="91425" rIns="91425" bIns="91425" anchor="t"/>
          <a:lstStyle xmlns:a="http://schemas.openxmlformats.org/drawingml/2006/main">
            <a:lvl1pPr marL="342900" indent="-34290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742950" indent="-28575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1143000" indent="-22860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1600200" indent="-22860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2057400" indent="-22860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45720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91440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137160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182880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6" name="Shape 156">
            <a:extLst xmlns:a="http://schemas.openxmlformats.org/drawingml/2006/main">
              <a:ext uri="{FF2B5EF4-FFF2-40B4-BE49-F238E27FC236}">
                <a16:creationId xmlns:a16="http://schemas.microsoft.com/office/drawing/2014/main" id="{94880216-C960-4A02-B6D5-FD3BE6D54B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55700" y="789709"/>
            <a:ext cx="13931900" cy="1750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1425" tIns="91425" rIns="91425" bIns="91425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45720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91440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137160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182880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57" name="Shape 157">
            <a:extLst xmlns:a="http://schemas.openxmlformats.org/drawingml/2006/main">
              <a:ext uri="{FF2B5EF4-FFF2-40B4-BE49-F238E27FC236}">
                <a16:creationId xmlns:a16="http://schemas.microsoft.com/office/drawing/2014/main" id="{4E4D8882-15B3-4F10-A9E4-167FB38CFF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55700" y="2603500"/>
            <a:ext cx="13931900" cy="57022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1425" tIns="91425" rIns="91425" bIns="91425" anchor="t"/>
          <a:lstStyle xmlns:a="http://schemas.openxmlformats.org/drawingml/2006/main">
            <a:lvl1pPr marL="647700" indent="-165861" algn="l">
              <a:spcBef>
                <a:spcPts val="3500"/>
              </a:spcBef>
              <a:spcAft>
                <a:spcPts val="0"/>
              </a:spcAft>
              <a:buChar char="•"/>
              <a:defRPr sz="3200"/>
            </a:lvl1pPr>
            <a:lvl2pPr marL="939800" indent="-165861" algn="l">
              <a:spcBef>
                <a:spcPts val="3500"/>
              </a:spcBef>
              <a:spcAft>
                <a:spcPts val="0"/>
              </a:spcAft>
              <a:buChar char="•"/>
              <a:defRPr/>
            </a:lvl2pPr>
            <a:lvl3pPr marL="1231900" indent="-165861" algn="l">
              <a:spcBef>
                <a:spcPts val="3500"/>
              </a:spcBef>
              <a:spcAft>
                <a:spcPts val="0"/>
              </a:spcAft>
              <a:buChar char="•"/>
              <a:defRPr/>
            </a:lvl3pPr>
            <a:lvl4pPr marL="1536700" indent="-165861" algn="l">
              <a:spcBef>
                <a:spcPts val="3500"/>
              </a:spcBef>
              <a:spcAft>
                <a:spcPts val="0"/>
              </a:spcAft>
              <a:buChar char="•"/>
              <a:defRPr/>
            </a:lvl4pPr>
            <a:lvl5pPr marL="1828800" indent="-165861" algn="l">
              <a:spcBef>
                <a:spcPts val="3500"/>
              </a:spcBef>
              <a:spcAft>
                <a:spcPts val="0"/>
              </a:spcAft>
              <a:buChar char="•"/>
              <a:defRPr/>
            </a:lvl5pPr>
            <a:lvl6pPr marL="2286000" indent="-165861" algn="l">
              <a:spcBef>
                <a:spcPts val="3500"/>
              </a:spcBef>
              <a:spcAft>
                <a:spcPts val="0"/>
              </a:spcAft>
              <a:buChar char="•"/>
              <a:defRPr/>
            </a:lvl6pPr>
            <a:lvl7pPr marL="2743200" indent="-165861" algn="l">
              <a:spcBef>
                <a:spcPts val="3500"/>
              </a:spcBef>
              <a:spcAft>
                <a:spcPts val="0"/>
              </a:spcAft>
              <a:buChar char="•"/>
              <a:defRPr/>
            </a:lvl7pPr>
            <a:lvl8pPr marL="3200400" indent="-165861" algn="l">
              <a:spcBef>
                <a:spcPts val="3500"/>
              </a:spcBef>
              <a:spcAft>
                <a:spcPts val="0"/>
              </a:spcAft>
              <a:buChar char="•"/>
              <a:defRPr/>
            </a:lvl8pPr>
            <a:lvl9pPr marL="3657600" indent="-165861" algn="l">
              <a:spcBef>
                <a:spcPts val="350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6" name="Shape 156">
            <a:extLst xmlns:a="http://schemas.openxmlformats.org/drawingml/2006/main">
              <a:ext uri="{FF2B5EF4-FFF2-40B4-BE49-F238E27FC236}">
                <a16:creationId xmlns:a16="http://schemas.microsoft.com/office/drawing/2014/main" id="{CE91CFE6-C3E8-41EC-BF89-06865259B0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55700" y="789709"/>
            <a:ext cx="13931900" cy="1750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1425" tIns="91425" rIns="91425" bIns="91425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45720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91440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137160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182880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548555015544f8" /><Relationship Type="http://schemas.openxmlformats.org/officeDocument/2006/relationships/slideLayout" Target="/ppt/slideLayouts/slideLayout1.xml" Id="Rdc7820184b524ece" /><Relationship Type="http://schemas.openxmlformats.org/officeDocument/2006/relationships/slideLayout" Target="/ppt/slideLayouts/slideLayout2.xml" Id="R1e37a9f65b0a431b" /><Relationship Type="http://schemas.openxmlformats.org/officeDocument/2006/relationships/slideLayout" Target="/ppt/slideLayouts/slideLayout3.xml" Id="R8fc9832a2b6241c3" /><Relationship Type="http://schemas.openxmlformats.org/officeDocument/2006/relationships/slideLayout" Target="/ppt/slideLayouts/slideLayout4.xml" Id="R976b9865badb4801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dk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6">
            <a:extLst xmlns:a="http://schemas.openxmlformats.org/drawingml/2006/main">
              <a:ext uri="{FF2B5EF4-FFF2-40B4-BE49-F238E27FC236}">
                <a16:creationId xmlns:a16="http://schemas.microsoft.com/office/drawing/2014/main" id="{F9E0505C-228E-4F87-A0C4-1A2A3C4670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55700" y="1536700"/>
            <a:ext cx="13931900" cy="30860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1425" tIns="91425" rIns="91425" bIns="91425" anchor="b"/>
          <a:lstStyle xmlns:a="http://schemas.openxmlformats.org/drawingml/2006/main"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457200" indent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914400" indent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1371600" indent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1828800" indent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7" name="Shape 7">
            <a:extLst xmlns:a="http://schemas.openxmlformats.org/drawingml/2006/main">
              <a:ext uri="{FF2B5EF4-FFF2-40B4-BE49-F238E27FC236}">
                <a16:creationId xmlns:a16="http://schemas.microsoft.com/office/drawing/2014/main" id="{DD803F0E-AB2E-4F6B-B1D9-6E6F071536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55700" y="4711700"/>
            <a:ext cx="13931900" cy="105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1425" tIns="91425" rIns="91425" bIns="91425" anchor="t"/>
          <a:lstStyle xmlns:a="http://schemas.openxmlformats.org/drawingml/2006/main">
            <a:lvl1pPr marL="342900" indent="-34290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742950" indent="-28575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1143000" indent="-22860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1600200" indent="-22860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2057400" indent="-22860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457200" indent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914400" indent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1371600" indent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1828800" indent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CE7E4AD-5B55-4B24-B9DE-A2413BAA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76809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>
            <a:lvl1pPr algn="ctr">
              <a:buNone/>
              <a:defRPr sz="2000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 marL="742950" indent="-285750" algn="ctr">
              <a:buNone/>
              <a:defRPr sz="2000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 marL="1143000" indent="-228600" algn="ctr">
              <a:buNone/>
              <a:defRPr sz="2000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 marL="1600200" indent="-228600" algn="ctr">
              <a:buNone/>
              <a:defRPr sz="2000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 marL="2057400" indent="-228600" algn="ctr">
              <a:buNone/>
              <a:defRPr sz="2000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 marL="2514600" indent="-228600" algn="ctr">
              <a:buNone/>
              <a:defRPr sz="2000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 marL="2971800" indent="-228600" algn="ctr">
              <a:buNone/>
              <a:defRPr sz="2000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 marL="3429000" indent="-228600" algn="ctr">
              <a:buNone/>
              <a:defRPr sz="2000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 marL="3886200" indent="-228600" algn="ctr">
              <a:buNone/>
              <a:defRPr sz="2000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5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01FCD06-C09C-4086-BDA0-0DF4401C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57616"/>
            <a:ext cx="1625600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>
            <a:lvl1pPr algn="ctr">
              <a:buNone/>
              <a:defRPr sz="2000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 marL="742950" indent="-285750" algn="ctr">
              <a:buNone/>
              <a:defRPr sz="2000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 marL="1143000" indent="-228600" algn="ctr">
              <a:buNone/>
              <a:defRPr sz="2000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 marL="1600200" indent="-228600" algn="ctr">
              <a:buNone/>
              <a:defRPr sz="2000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 marL="2057400" indent="-228600" algn="ctr">
              <a:buNone/>
              <a:defRPr sz="2000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 marL="2514600" indent="-228600" algn="ctr">
              <a:buNone/>
              <a:defRPr sz="2000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 marL="2971800" indent="-228600" algn="ctr">
              <a:buNone/>
              <a:defRPr sz="2000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 marL="3429000" indent="-228600" algn="ctr">
              <a:buNone/>
              <a:defRPr sz="2000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 marL="3886200" indent="-228600" algn="ctr">
              <a:buNone/>
              <a:defRPr sz="2000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7820184b524ece"/>
    <p:sldLayoutId xmlns:r="http://schemas.openxmlformats.org/officeDocument/2006/relationships" id="2147483650" r:id="R1e37a9f65b0a431b"/>
    <p:sldLayoutId xmlns:r="http://schemas.openxmlformats.org/officeDocument/2006/relationships" id="2147483651" r:id="R8fc9832a2b6241c3"/>
    <p:sldLayoutId xmlns:r="http://schemas.openxmlformats.org/officeDocument/2006/relationships" id="2147483652" r:id="R976b9865badb4801"/>
  </p:sldLayoutIdLst>
  <p:hf sldNum="0" hdr="0" ftr="0" dt="0"/>
  <p:txStyles>
    <p:title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Title &amp; Subtitle">
  <a:themeElements>
    <a:clrScheme name="ChatGPT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74b4c086a8434b" /><Relationship Type="http://schemas.openxmlformats.org/officeDocument/2006/relationships/image" Target="/ppt/media/image.png" Id="R353ffb4008624503" /><Relationship Type="http://schemas.openxmlformats.org/officeDocument/2006/relationships/image" Target="/ppt/media/image.jpeg" Id="R57d609cd2c014439" /><Relationship Type="http://schemas.openxmlformats.org/officeDocument/2006/relationships/notesSlide" Target="/ppt/notesSlides/notesSlide1.xml" Id="R0a9f1a0272974a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4e83f6d4134a1c" /><Relationship Type="http://schemas.openxmlformats.org/officeDocument/2006/relationships/hyperlink" Target="https://en.wikipedia.org/wiki/Algorithm" TargetMode="External" Id="R44bfce29450446ea" /><Relationship Type="http://schemas.openxmlformats.org/officeDocument/2006/relationships/hyperlink" Target="https://en.wikipedia.org/wiki/Data_structure" TargetMode="External" Id="R2b064cd8d0804424" /><Relationship Type="http://schemas.openxmlformats.org/officeDocument/2006/relationships/notesSlide" Target="/ppt/notesSlides/notesSlide2.xml" Id="Re8c97e391d434a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249ed5af004565" /><Relationship Type="http://schemas.openxmlformats.org/officeDocument/2006/relationships/notesSlide" Target="/ppt/notesSlides/notesSlide3.xml" Id="Rcea72855bbad48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33a80543974fde" /><Relationship Type="http://schemas.openxmlformats.org/officeDocument/2006/relationships/image" Target="/ppt/media/image2.jpeg" Id="R0323647bcd0b44bb" /><Relationship Type="http://schemas.openxmlformats.org/officeDocument/2006/relationships/notesSlide" Target="/ppt/notesSlides/notesSlide4.xml" Id="Rdb98af354e6e49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2269bf80244e81" /><Relationship Type="http://schemas.openxmlformats.org/officeDocument/2006/relationships/notesSlide" Target="/ppt/notesSlides/notesSlide5.xml" Id="R6cc28610f8e34e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e5bcce82eb40ab" /><Relationship Type="http://schemas.openxmlformats.org/officeDocument/2006/relationships/notesSlide" Target="/ppt/notesSlides/notesSlide6.xml" Id="R06208f426b094b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33a786a527b4551" /><Relationship Type="http://schemas.openxmlformats.org/officeDocument/2006/relationships/notesSlide" Target="/ppt/notesSlides/notesSlide7.xml" Id="R01324fa55cbe47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139ca3b51e4a3e" /><Relationship Type="http://schemas.openxmlformats.org/officeDocument/2006/relationships/image" Target="/ppt/media/image3.jpeg" Id="Rb2a53372bbf44975" /><Relationship Type="http://schemas.openxmlformats.org/officeDocument/2006/relationships/notesSlide" Target="/ppt/notesSlides/notesSlide8.xml" Id="R827a0af9448948b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a8fe3ad50d4302" /><Relationship Type="http://schemas.openxmlformats.org/officeDocument/2006/relationships/notesSlide" Target="/ppt/notesSlides/notesSlide9.xml" Id="R33d45634f97a4ed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b6131520044b90" /><Relationship Type="http://schemas.openxmlformats.org/officeDocument/2006/relationships/notesSlide" Target="/ppt/notesSlides/notesSlide10.xml" Id="R8c499cdacca144a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d265ad410e43a8" /><Relationship Type="http://schemas.openxmlformats.org/officeDocument/2006/relationships/notesSlide" Target="/ppt/notesSlides/notesSlide11.xml" Id="R5dde49652ad34aa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225c73c1fda4b68" /><Relationship Type="http://schemas.openxmlformats.org/officeDocument/2006/relationships/notesSlide" Target="/ppt/notesSlides/notesSlide12.xml" Id="R5586fdfd3650471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9b8703aec24286" /><Relationship Type="http://schemas.openxmlformats.org/officeDocument/2006/relationships/notesSlide" Target="/ppt/notesSlides/notesSlide13.xml" Id="Rb4ff5cc78ee1404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511e40f33824fad" /><Relationship Type="http://schemas.openxmlformats.org/officeDocument/2006/relationships/notesSlide" Target="/ppt/notesSlides/notesSlide14.xml" Id="Rb052720d7f80429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b54f313c0744867" /><Relationship Type="http://schemas.openxmlformats.org/officeDocument/2006/relationships/hyperlink" Target="http://docs.python.org/tutorial/datastructures.html" TargetMode="External" Id="R1c33ee8013884859" /><Relationship Type="http://schemas.openxmlformats.org/officeDocument/2006/relationships/notesSlide" Target="/ppt/notesSlides/notesSlide15.xml" Id="R4b989ee92fef47a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9a468741fa4dba" /><Relationship Type="http://schemas.openxmlformats.org/officeDocument/2006/relationships/notesSlide" Target="/ppt/notesSlides/notesSlide16.xml" Id="R49516e2ca878444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29d637975a4af0" /><Relationship Type="http://schemas.openxmlformats.org/officeDocument/2006/relationships/notesSlide" Target="/ppt/notesSlides/notesSlide17.xml" Id="R5ebff48bddb1444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1c3b147a034cc1" /><Relationship Type="http://schemas.openxmlformats.org/officeDocument/2006/relationships/notesSlide" Target="/ppt/notesSlides/notesSlide18.xml" Id="Rd37122f96b5f47a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626b126b49499c" /><Relationship Type="http://schemas.openxmlformats.org/officeDocument/2006/relationships/notesSlide" Target="/ppt/notesSlides/notesSlide19.xml" Id="Rd0fa586aa142491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183e611c4e74635" /><Relationship Type="http://schemas.openxmlformats.org/officeDocument/2006/relationships/notesSlide" Target="/ppt/notesSlides/notesSlide20.xml" Id="R743f6f2fbc854be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86718f0f7b04ea7" /><Relationship Type="http://schemas.openxmlformats.org/officeDocument/2006/relationships/notesSlide" Target="/ppt/notesSlides/notesSlide21.xml" Id="R48a16119185842c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9b3e124e46ba4b5f" /><Relationship Type="http://schemas.openxmlformats.org/officeDocument/2006/relationships/notesSlide" Target="/ppt/notesSlides/notesSlide22.xml" Id="R91e34b97523b406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6b1a222c331d4d58" /><Relationship Type="http://schemas.openxmlformats.org/officeDocument/2006/relationships/notesSlide" Target="/ppt/notesSlides/notesSlide23.xml" Id="Rad91047b0652445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903b3aa6c64865" /><Relationship Type="http://schemas.openxmlformats.org/officeDocument/2006/relationships/notesSlide" Target="/ppt/notesSlides/notesSlide24.xml" Id="R37b35a000c14461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b6ca86e5c6a4a69" /><Relationship Type="http://schemas.openxmlformats.org/officeDocument/2006/relationships/notesSlide" Target="/ppt/notesSlides/notesSlide25.xml" Id="R62eab105626d400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3e2da17f1634047" /><Relationship Type="http://schemas.openxmlformats.org/officeDocument/2006/relationships/notesSlide" Target="/ppt/notesSlides/notesSlide26.xml" Id="Rb8576b51eacc42c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477daeba7444727" /><Relationship Type="http://schemas.openxmlformats.org/officeDocument/2006/relationships/notesSlide" Target="/ppt/notesSlides/notesSlide27.xml" Id="R0c3521306ab7410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4ab215596a94441" /><Relationship Type="http://schemas.openxmlformats.org/officeDocument/2006/relationships/notesSlide" Target="/ppt/notesSlides/notesSlide28.xml" Id="R8c974b27350f47a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978fdc0c310d4ff2" /><Relationship Type="http://schemas.openxmlformats.org/officeDocument/2006/relationships/hyperlink" Target="http://www.dr-chuck.com/" TargetMode="External" Id="Reef9cb0983ea4e43" /><Relationship Type="http://schemas.openxmlformats.org/officeDocument/2006/relationships/hyperlink" Target="http://open.umich.edu/" TargetMode="External" Id="R5148df119dfe4f52" /><Relationship Type="http://schemas.openxmlformats.org/officeDocument/2006/relationships/image" Target="/ppt/media/image.jpeg" Id="R53554ba1266d455a" /><Relationship Type="http://schemas.openxmlformats.org/officeDocument/2006/relationships/image" Target="/ppt/media/image.png" Id="Rc49e263dfa6040d5" /><Relationship Type="http://schemas.openxmlformats.org/officeDocument/2006/relationships/notesSlide" Target="/ppt/notesSlides/notesSlide29.xml" Id="Rbfba40c0f35d43b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5" name="Shape 165">
            <a:extLst xmlns:a="http://schemas.openxmlformats.org/drawingml/2006/main">
              <a:ext uri="{FF2B5EF4-FFF2-40B4-BE49-F238E27FC236}">
                <a16:creationId xmlns:a16="http://schemas.microsoft.com/office/drawing/2014/main" id="{F9EFA6DD-4D45-405A-AABF-190DFC8D82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b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Python Lists</a:t>
            </a:r>
          </a:p>
        </p:txBody>
      </p:sp>
      <p:sp>
        <p:nvSpPr>
          <p:cNvPr id="166" name="Shape 166">
            <a:extLst xmlns:a="http://schemas.openxmlformats.org/drawingml/2006/main">
              <a:ext uri="{FF2B5EF4-FFF2-40B4-BE49-F238E27FC236}">
                <a16:creationId xmlns:a16="http://schemas.microsoft.com/office/drawing/2014/main" id="{03DDC905-A8CF-488D-9E8C-5EB0391101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8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Chapter 8</a:t>
            </a:r>
          </a:p>
        </p:txBody>
      </p:sp>
      <p:sp>
        <p:nvSpPr>
          <p:cNvPr id="167" name="Shape 167">
            <a:extLst xmlns:a="http://schemas.openxmlformats.org/drawingml/2006/main">
              <a:ext uri="{FF2B5EF4-FFF2-40B4-BE49-F238E27FC236}">
                <a16:creationId xmlns:a16="http://schemas.microsoft.com/office/drawing/2014/main" id="{0B8659BA-6DE9-4DE2-8674-619352AD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4600" y="6415089"/>
            <a:ext cx="7987499" cy="15606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u="none" cap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Python for Everybody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>
                <a:solidFill>
                  <a:srgbClr val="FFFF00"/>
                </a:solidFill>
                <a:latin typeface="Arial"/>
                <a:ea typeface="Arial"/>
                <a:cs typeface="Arial"/>
              </a:rPr>
              <a:t>www.py4e.com</a:t>
            </a:r>
          </a:p>
        </p:txBody>
      </p:sp>
      <p:pic>
        <p:nvPicPr>
          <p:cNvPr id="173" name="Shape 16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53ffb400862450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3587412" y="7318368"/>
            <a:ext cx="1968599" cy="668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74" name="Shape 16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7d609cd2c01443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35250" y="6933293"/>
            <a:ext cx="1024800" cy="1024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24850725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9" name="Shape 189">
            <a:extLst xmlns:a="http://schemas.openxmlformats.org/drawingml/2006/main">
              <a:ext uri="{FF2B5EF4-FFF2-40B4-BE49-F238E27FC236}">
                <a16:creationId xmlns:a16="http://schemas.microsoft.com/office/drawing/2014/main" id="{2D257356-99D9-4ABD-8241-A324720F55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55700" y="789709"/>
            <a:ext cx="12992030" cy="1750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Programming</a:t>
            </a:r>
          </a:p>
        </p:txBody>
      </p:sp>
      <p:sp>
        <p:nvSpPr>
          <p:cNvPr id="190" name="Shape 190">
            <a:extLst xmlns:a="http://schemas.openxmlformats.org/drawingml/2006/main">
              <a:ext uri="{FF2B5EF4-FFF2-40B4-BE49-F238E27FC236}">
                <a16:creationId xmlns:a16="http://schemas.microsoft.com/office/drawing/2014/main" id="{744B986E-3F28-408F-AEAC-9551BC0383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55700" y="2857500"/>
            <a:ext cx="13760450" cy="4843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marL="457200" indent="-4445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3600" u="none" cap="none">
                <a:solidFill>
                  <a:srgbClr val="FF7F00"/>
                </a:solidFill>
                <a:latin typeface="Arial"/>
                <a:ea typeface="Arial"/>
                <a:cs typeface="Arial"/>
              </a:rPr>
              <a:t>Algorithm</a:t>
            </a:r>
          </a:p>
          <a:p xmlns:a="http://schemas.openxmlformats.org/drawingml/2006/main">
            <a:pPr marL="304800" indent="0">
              <a:spcBef>
                <a:spcPts val="0"/>
              </a:spcBef>
              <a:spcAft>
                <a:spcPts val="1000"/>
              </a:spcAft>
              <a:buNone/>
            </a:pPr>
            <a:r>
              <a:rPr sz="3200">
                <a:solidFill>
                  <a:schemeClr val="bg1"/>
                </a:solidFill>
                <a:latin typeface="Arial"/>
                <a:ea typeface="Arial"/>
                <a:cs typeface="Arial"/>
              </a:rPr>
              <a:t> -  A set of rules or steps used to solve a problem</a:t>
            </a:r>
          </a:p>
          <a:p xmlns:a="http://schemas.openxmlformats.org/drawingml/2006/main">
            <a:pPr marL="749300" indent="-444500">
              <a:spcBef>
                <a:spcPts val="0"/>
              </a:spcBef>
              <a:spcAft>
                <a:spcPts val="1000"/>
              </a:spcAft>
              <a:buNone/>
            </a:pPr>
          </a:p>
          <a:p xmlns:a="http://schemas.openxmlformats.org/drawingml/2006/main">
            <a:pPr marL="457200" indent="-4445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3600">
                <a:solidFill>
                  <a:srgbClr val="FF7F00"/>
                </a:solidFill>
                <a:latin typeface="Arial"/>
                <a:ea typeface="Arial"/>
                <a:cs typeface="Arial"/>
              </a:rPr>
              <a:t>Data Structure</a:t>
            </a:r>
          </a:p>
          <a:p xmlns:a="http://schemas.openxmlformats.org/drawingml/2006/main">
            <a:pPr marL="304800" indent="0">
              <a:spcBef>
                <a:spcPts val="0"/>
              </a:spcBef>
              <a:spcAft>
                <a:spcPts val="1000"/>
              </a:spcAft>
              <a:buNone/>
            </a:pPr>
            <a:r>
              <a:rPr sz="3200">
                <a:solidFill>
                  <a:schemeClr val="lt1"/>
                </a:solidFill>
                <a:latin typeface="Arial"/>
                <a:ea typeface="Arial"/>
                <a:cs typeface="Arial"/>
              </a:rPr>
              <a:t> -  A particular way of organizing data in a computer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E75F96E-A5F0-472B-9C60-7EBAA6CF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7449" y="6941246"/>
            <a:ext cx="7973658" cy="10772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3200">
                <a:solidFill>
                  <a:srgbClr val="FFFF00"/>
                </a:solidFill>
                <a:hlinkClick xmlns:r="http://schemas.openxmlformats.org/officeDocument/2006/relationships" r:id="R44bfce29450446ea"/>
              </a:rPr>
              <a:t>https://en.wikipedia.org/wiki/Algorithm</a:t>
            </a:r>
          </a:p>
          <a:p xmlns:a="http://schemas.openxmlformats.org/drawingml/2006/main">
            <a:pPr algn="r">
              <a:buNone/>
            </a:pPr>
            <a:r>
              <a:rPr sz="3200">
                <a:solidFill>
                  <a:srgbClr val="FFFF00"/>
                </a:solidFill>
                <a:hlinkClick xmlns:r="http://schemas.openxmlformats.org/officeDocument/2006/relationships" r:id="R2b064cd8d0804424"/>
              </a:rPr>
              <a:t>https://en.wikipedia.org/wiki/Data_structure</a:t>
            </a:r>
          </a:p>
        </p:txBody>
      </p:sp>
    </p:spTree>
    <p:extLst>
      <p:ext uri="{BB962C8B-B14F-4D97-AF65-F5344CB8AC3E}">
        <p14:creationId xmlns:p14="http://schemas.microsoft.com/office/powerpoint/2010/main" val="75344466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2" name="Shape 182">
            <a:extLst xmlns:a="http://schemas.openxmlformats.org/drawingml/2006/main">
              <a:ext uri="{FF2B5EF4-FFF2-40B4-BE49-F238E27FC236}">
                <a16:creationId xmlns:a16="http://schemas.microsoft.com/office/drawing/2014/main" id="{552FBBAC-D2F9-4058-AB63-A4EBE21873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What is Not a </a:t>
            </a:r>
            <a:r>
              <a:rPr sz="7600" b="0" i="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“</a:t>
            </a:r>
            <a:r>
              <a:rPr sz="760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Collection</a:t>
            </a:r>
            <a:r>
              <a:rPr sz="7600" b="0" i="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”?</a:t>
            </a:r>
          </a:p>
        </p:txBody>
      </p:sp>
      <p:sp>
        <p:nvSpPr>
          <p:cNvPr id="183" name="Shape 183">
            <a:extLst xmlns:a="http://schemas.openxmlformats.org/drawingml/2006/main">
              <a:ext uri="{FF2B5EF4-FFF2-40B4-BE49-F238E27FC236}">
                <a16:creationId xmlns:a16="http://schemas.microsoft.com/office/drawing/2014/main" id="{A86332C5-511E-48E1-9822-F0BD63B69F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55700" y="2603501"/>
            <a:ext cx="13931900" cy="265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Most of our </a:t>
            </a:r>
            <a:r>
              <a:rPr sz="3600" u="none" cap="none">
                <a:solidFill>
                  <a:srgbClr val="00FF00"/>
                </a:solidFill>
                <a:latin typeface="Arial"/>
                <a:ea typeface="Arial"/>
                <a:cs typeface="Arial"/>
              </a:rPr>
              <a:t>variables</a:t>
            </a:r>
            <a:r>
              <a:rPr sz="36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have one value in them - when we put a new value in the </a:t>
            </a:r>
            <a:r>
              <a:rPr sz="3600" u="none" cap="none">
                <a:solidFill>
                  <a:srgbClr val="00FF00"/>
                </a:solidFill>
                <a:latin typeface="Arial"/>
                <a:ea typeface="Arial"/>
                <a:cs typeface="Arial"/>
              </a:rPr>
              <a:t>variable</a:t>
            </a:r>
            <a:r>
              <a:rPr sz="3600">
                <a:solidFill>
                  <a:schemeClr val="lt1"/>
                </a:solidFill>
                <a:latin typeface="Arial"/>
                <a:ea typeface="Arial"/>
                <a:cs typeface="Arial"/>
              </a:rPr>
              <a:t>,</a:t>
            </a:r>
            <a:r>
              <a:rPr sz="36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the old value is overwritten</a:t>
            </a:r>
          </a:p>
        </p:txBody>
      </p:sp>
      <p:sp>
        <p:nvSpPr>
          <p:cNvPr id="184" name="Shape 184">
            <a:extLst xmlns:a="http://schemas.openxmlformats.org/drawingml/2006/main">
              <a:ext uri="{FF2B5EF4-FFF2-40B4-BE49-F238E27FC236}">
                <a16:creationId xmlns:a16="http://schemas.microsoft.com/office/drawing/2014/main" id="{6EE0DDD3-EA82-4713-982F-C728121A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6725" y="5621338"/>
            <a:ext cx="12214275" cy="2257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$ python3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x = 2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x = 4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print(x)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6225085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" name="Shape 174">
            <a:extLst xmlns:a="http://schemas.openxmlformats.org/drawingml/2006/main">
              <a:ext uri="{FF2B5EF4-FFF2-40B4-BE49-F238E27FC236}">
                <a16:creationId xmlns:a16="http://schemas.microsoft.com/office/drawing/2014/main" id="{A27C64D5-4E59-443C-8EBD-B1D086A667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55700" y="789709"/>
            <a:ext cx="11688763" cy="1750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40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A List is a Kind of Collection</a:t>
            </a:r>
          </a:p>
        </p:txBody>
      </p:sp>
      <p:sp>
        <p:nvSpPr>
          <p:cNvPr id="175" name="Shape 175">
            <a:extLst xmlns:a="http://schemas.openxmlformats.org/drawingml/2006/main">
              <a:ext uri="{FF2B5EF4-FFF2-40B4-BE49-F238E27FC236}">
                <a16:creationId xmlns:a16="http://schemas.microsoft.com/office/drawing/2014/main" id="{14D19AB6-5888-4F89-A7A4-7F3C091B62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55700" y="2603501"/>
            <a:ext cx="13931900" cy="3525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749300" indent="-37109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sz="36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A </a:t>
            </a:r>
            <a:r>
              <a:rPr sz="36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collection</a:t>
            </a:r>
            <a:r>
              <a:rPr sz="36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allows us to put many values in a single </a:t>
            </a:r>
            <a:r>
              <a:rPr sz="36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“</a:t>
            </a:r>
            <a:r>
              <a:rPr sz="3600" u="none" cap="none">
                <a:solidFill>
                  <a:srgbClr val="00FF00"/>
                </a:solidFill>
                <a:latin typeface="Arial"/>
                <a:ea typeface="Arial"/>
                <a:cs typeface="Arial"/>
              </a:rPr>
              <a:t>variable</a:t>
            </a:r>
            <a:r>
              <a:rPr sz="36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”</a:t>
            </a:r>
          </a:p>
          <a:p xmlns:a="http://schemas.openxmlformats.org/drawingml/2006/main">
            <a:pPr marL="749300" indent="-371094" algn="l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har char="•"/>
            </a:pPr>
            <a:r>
              <a:rPr sz="36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A </a:t>
            </a:r>
            <a:r>
              <a:rPr sz="36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collection</a:t>
            </a:r>
            <a:r>
              <a:rPr sz="36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is nice because we can carry all </a:t>
            </a:r>
            <a:r>
              <a:rPr sz="3600" u="none" cap="none">
                <a:solidFill>
                  <a:srgbClr val="FF7F00"/>
                </a:solidFill>
                <a:latin typeface="Arial"/>
                <a:ea typeface="Arial"/>
                <a:cs typeface="Arial"/>
              </a:rPr>
              <a:t>many values</a:t>
            </a:r>
            <a:r>
              <a:rPr sz="36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around in one convenient package.</a:t>
            </a:r>
          </a:p>
        </p:txBody>
      </p:sp>
      <p:pic>
        <p:nvPicPr>
          <p:cNvPr id="181" name="Shape 17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323647bcd0b44b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3277850" y="789709"/>
            <a:ext cx="2557874" cy="209629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77" name="Shape 177">
            <a:extLst xmlns:a="http://schemas.openxmlformats.org/drawingml/2006/main">
              <a:ext uri="{FF2B5EF4-FFF2-40B4-BE49-F238E27FC236}">
                <a16:creationId xmlns:a16="http://schemas.microsoft.com/office/drawing/2014/main" id="{4E089484-F956-4701-BF4B-7D21E654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2250" y="6000750"/>
            <a:ext cx="12192000" cy="2214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friends</a:t>
            </a:r>
            <a:r>
              <a:rPr sz="36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 </a:t>
            </a:r>
            <a:r>
              <a:rPr sz="3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=</a:t>
            </a:r>
            <a:r>
              <a:rPr sz="36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 [ 'Joseph', 'Glenn', 'Sally' ]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carryon</a:t>
            </a:r>
            <a:r>
              <a:rPr sz="36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 </a:t>
            </a:r>
            <a:r>
              <a:rPr sz="3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=</a:t>
            </a:r>
            <a:r>
              <a:rPr sz="36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 [ 'socks', 'shirt', 'perfume' ]</a:t>
            </a:r>
          </a:p>
        </p:txBody>
      </p:sp>
    </p:spTree>
    <p:extLst>
      <p:ext uri="{BB962C8B-B14F-4D97-AF65-F5344CB8AC3E}">
        <p14:creationId xmlns:p14="http://schemas.microsoft.com/office/powerpoint/2010/main" val="142203798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9" name="Shape 189">
            <a:extLst xmlns:a="http://schemas.openxmlformats.org/drawingml/2006/main">
              <a:ext uri="{FF2B5EF4-FFF2-40B4-BE49-F238E27FC236}">
                <a16:creationId xmlns:a16="http://schemas.microsoft.com/office/drawing/2014/main" id="{6A3546CA-A68E-4730-81EE-49C0773360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List Literals</a:t>
            </a:r>
          </a:p>
        </p:txBody>
      </p:sp>
      <p:sp>
        <p:nvSpPr>
          <p:cNvPr id="190" name="Shape 190">
            <a:extLst xmlns:a="http://schemas.openxmlformats.org/drawingml/2006/main">
              <a:ext uri="{FF2B5EF4-FFF2-40B4-BE49-F238E27FC236}">
                <a16:creationId xmlns:a16="http://schemas.microsoft.com/office/drawing/2014/main" id="{4D5E5ABF-B61A-448D-A7B7-275CE6EB64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8500" y="2857500"/>
            <a:ext cx="7331075" cy="4843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457200" indent="-4445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3400" u="none" cap="none">
                <a:solidFill>
                  <a:srgbClr val="FF7F00"/>
                </a:solidFill>
                <a:latin typeface="Arial"/>
                <a:ea typeface="Arial"/>
                <a:cs typeface="Arial"/>
              </a:rPr>
              <a:t>List literals are surrounded by square brackets, with elements separated by commas</a:t>
            </a:r>
          </a:p>
          <a:p xmlns:a="http://schemas.openxmlformats.org/drawingml/2006/main">
            <a:pPr marL="457200" indent="-444500" algn="l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None/>
            </a:pP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A list element can be any Python object, even another list</a:t>
            </a:r>
          </a:p>
          <a:p xmlns:a="http://schemas.openxmlformats.org/drawingml/2006/main">
            <a:pPr marL="457200" indent="-444500" algn="l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None/>
            </a:pP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A list can be empty</a:t>
            </a:r>
          </a:p>
        </p:txBody>
      </p:sp>
      <p:sp>
        <p:nvSpPr>
          <p:cNvPr id="191" name="Shape 191">
            <a:extLst xmlns:a="http://schemas.openxmlformats.org/drawingml/2006/main">
              <a:ext uri="{FF2B5EF4-FFF2-40B4-BE49-F238E27FC236}">
                <a16:creationId xmlns:a16="http://schemas.microsoft.com/office/drawing/2014/main" id="{4A9B3E7A-B04E-402B-82C5-8F06B1BF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4113" y="2532050"/>
            <a:ext cx="7162387" cy="5540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8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print(</a:t>
            </a:r>
            <a:r>
              <a:rPr sz="28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[1, 24, 76]</a:t>
            </a:r>
            <a:r>
              <a:rPr sz="28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[1, 24, 76]</a:t>
            </a:r>
          </a:p>
          <a:p xmlns:a="http://schemas.openxmlformats.org/drawingml/2006/main">
            <a:pPr>
              <a:buNone/>
            </a:pPr>
            <a:r>
              <a:rPr sz="28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8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</a:t>
            </a:r>
            <a:r>
              <a:rPr sz="2800" b="1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</a:t>
            </a:r>
            <a:r>
              <a:rPr sz="28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['red', 'yellow', 'blue']</a:t>
            </a:r>
            <a:r>
              <a:rPr sz="2800" b="1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['red', 'yellow', 'blue']</a:t>
            </a:r>
          </a:p>
          <a:p xmlns:a="http://schemas.openxmlformats.org/drawingml/2006/main">
            <a:pPr>
              <a:buNone/>
            </a:pPr>
            <a:r>
              <a:rPr sz="28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8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</a:t>
            </a:r>
            <a:r>
              <a:rPr sz="2800" b="1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</a:t>
            </a:r>
            <a:r>
              <a:rPr sz="28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['red', 24, 98.6]</a:t>
            </a:r>
            <a:r>
              <a:rPr sz="2800" b="1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['red', 24, 98.6]</a:t>
            </a:r>
          </a:p>
          <a:p xmlns:a="http://schemas.openxmlformats.org/drawingml/2006/main">
            <a:pPr>
              <a:buNone/>
            </a:pPr>
            <a:r>
              <a:rPr sz="28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8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</a:t>
            </a:r>
            <a:r>
              <a:rPr sz="2800" b="1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(</a:t>
            </a:r>
            <a:r>
              <a:rPr sz="28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[ 1, </a:t>
            </a:r>
            <a:r>
              <a:rPr sz="2800" b="1" i="0" u="none" cap="none">
                <a:solidFill>
                  <a:srgbClr val="00FFFF"/>
                </a:solidFill>
                <a:latin typeface="Courier"/>
                <a:ea typeface="Courier"/>
                <a:cs typeface="Courier"/>
              </a:rPr>
              <a:t>[5, 6]</a:t>
            </a:r>
            <a:r>
              <a:rPr sz="28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, 7]</a:t>
            </a:r>
            <a:r>
              <a:rPr sz="2800" b="1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[1, [5, 6], 7]</a:t>
            </a:r>
          </a:p>
          <a:p xmlns:a="http://schemas.openxmlformats.org/drawingml/2006/main">
            <a:pPr>
              <a:buNone/>
            </a:pPr>
            <a:r>
              <a:rPr sz="28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8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</a:t>
            </a:r>
            <a:r>
              <a:rPr sz="2800" b="1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</a:t>
            </a:r>
            <a:r>
              <a:rPr sz="28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[]</a:t>
            </a:r>
            <a:r>
              <a:rPr sz="2800" b="1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[]</a:t>
            </a:r>
          </a:p>
        </p:txBody>
      </p:sp>
    </p:spTree>
    <p:extLst>
      <p:ext uri="{BB962C8B-B14F-4D97-AF65-F5344CB8AC3E}">
        <p14:creationId xmlns:p14="http://schemas.microsoft.com/office/powerpoint/2010/main" val="36003439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6" name="Shape 196">
            <a:extLst xmlns:a="http://schemas.openxmlformats.org/drawingml/2006/main">
              <a:ext uri="{FF2B5EF4-FFF2-40B4-BE49-F238E27FC236}">
                <a16:creationId xmlns:a16="http://schemas.microsoft.com/office/drawing/2014/main" id="{A26D95CB-7588-435C-8E5D-C1D2EF80EB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We Already Use Lists!</a:t>
            </a:r>
          </a:p>
        </p:txBody>
      </p:sp>
      <p:sp>
        <p:nvSpPr>
          <p:cNvPr id="197" name="Shape 197">
            <a:extLst xmlns:a="http://schemas.openxmlformats.org/drawingml/2006/main">
              <a:ext uri="{FF2B5EF4-FFF2-40B4-BE49-F238E27FC236}">
                <a16:creationId xmlns:a16="http://schemas.microsoft.com/office/drawing/2014/main" id="{0E92F4B7-1A9D-4207-9FBC-6657C54D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840601"/>
            <a:ext cx="8488800" cy="363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for i in [5, 4, 3, 2, 1]: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   print(i)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print('Blastoff!')</a:t>
            </a:r>
          </a:p>
        </p:txBody>
      </p:sp>
      <p:sp>
        <p:nvSpPr>
          <p:cNvPr id="198" name="Shape 198">
            <a:extLst xmlns:a="http://schemas.openxmlformats.org/drawingml/2006/main">
              <a:ext uri="{FF2B5EF4-FFF2-40B4-BE49-F238E27FC236}">
                <a16:creationId xmlns:a16="http://schemas.microsoft.com/office/drawing/2014/main" id="{2628C583-7D01-4B4F-AB5E-7B037A68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861" y="3003550"/>
            <a:ext cx="2384424" cy="490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8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5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8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4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8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3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8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2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8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1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8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Blastoff!</a:t>
            </a:r>
          </a:p>
        </p:txBody>
      </p:sp>
    </p:spTree>
    <p:extLst>
      <p:ext uri="{BB962C8B-B14F-4D97-AF65-F5344CB8AC3E}">
        <p14:creationId xmlns:p14="http://schemas.microsoft.com/office/powerpoint/2010/main" val="136490371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3" name="Shape 203">
            <a:extLst xmlns:a="http://schemas.openxmlformats.org/drawingml/2006/main">
              <a:ext uri="{FF2B5EF4-FFF2-40B4-BE49-F238E27FC236}">
                <a16:creationId xmlns:a16="http://schemas.microsoft.com/office/drawing/2014/main" id="{3B667547-093F-4271-8E46-F113A06BBA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60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Lists and for Loops Work Together</a:t>
            </a:r>
          </a:p>
        </p:txBody>
      </p:sp>
      <p:sp>
        <p:nvSpPr>
          <p:cNvPr id="204" name="Shape 204">
            <a:extLst xmlns:a="http://schemas.openxmlformats.org/drawingml/2006/main">
              <a:ext uri="{FF2B5EF4-FFF2-40B4-BE49-F238E27FC236}">
                <a16:creationId xmlns:a16="http://schemas.microsoft.com/office/drawing/2014/main" id="{49265B28-A292-4DE4-9E9F-4B1409F2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124" y="3423163"/>
            <a:ext cx="7280400" cy="22160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friends = ['Joseph', 'Glenn', 'Sally']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for friend in friends:</a:t>
            </a:r>
          </a:p>
          <a:p xmlns:a="http://schemas.openxmlformats.org/drawingml/2006/main">
            <a:pPr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   print('Happy New Year:', friend)</a:t>
            </a:r>
          </a:p>
          <a:p xmlns:a="http://schemas.openxmlformats.org/drawingml/2006/main">
            <a:pPr>
              <a:buNone/>
            </a:pPr>
            <a:r>
              <a:rPr sz="24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print('Done!')</a:t>
            </a:r>
          </a:p>
        </p:txBody>
      </p:sp>
      <p:sp>
        <p:nvSpPr>
          <p:cNvPr id="205" name="Shape 205">
            <a:extLst xmlns:a="http://schemas.openxmlformats.org/drawingml/2006/main">
              <a:ext uri="{FF2B5EF4-FFF2-40B4-BE49-F238E27FC236}">
                <a16:creationId xmlns:a16="http://schemas.microsoft.com/office/drawing/2014/main" id="{C52F0B9D-E631-49D8-87B3-7BC915FE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4051100"/>
            <a:ext cx="4943475" cy="218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Happy New Year: Joseph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Happy New Year: Glenn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Happy New Year: Sally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Done!</a:t>
            </a:r>
          </a:p>
        </p:txBody>
      </p:sp>
      <p:cxnSp>
        <p:nvCxnSpPr>
          <p:cNvPr id="218" name="Shape 206"/>
          <p:cNvCxnSpPr/>
          <p:nvPr/>
        </p:nvCxnSpPr>
        <p:spPr>
          <a:xfrm xmlns:a="http://schemas.openxmlformats.org/drawingml/2006/main" flipH="1">
            <a:off x="8443912" y="4353475"/>
            <a:ext cx="1986512" cy="318538"/>
          </a:xfrm>
          <a:prstGeom xmlns:a="http://schemas.openxmlformats.org/drawingml/2006/main" prst="straightConnector1">
            <a:avLst/>
          </a:prstGeom>
          <a:ln xmlns:a="http://schemas.openxmlformats.org/drawingml/2006/main" w="50800" cap="rnd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19" name="Shape 207"/>
          <p:cNvCxnSpPr/>
          <p:nvPr/>
        </p:nvCxnSpPr>
        <p:spPr>
          <a:xfrm xmlns:a="http://schemas.openxmlformats.org/drawingml/2006/main" flipH="1" flipV="1">
            <a:off x="8464060" y="4672014"/>
            <a:ext cx="1961138" cy="839786"/>
          </a:xfrm>
          <a:prstGeom xmlns:a="http://schemas.openxmlformats.org/drawingml/2006/main" prst="straightConnector1">
            <a:avLst/>
          </a:prstGeom>
          <a:ln xmlns:a="http://schemas.openxmlformats.org/drawingml/2006/main" w="50800" cap="rnd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20" name="Shape 208"/>
          <p:cNvCxnSpPr/>
          <p:nvPr/>
        </p:nvCxnSpPr>
        <p:spPr>
          <a:xfrm xmlns:a="http://schemas.openxmlformats.org/drawingml/2006/main" rot="10800000">
            <a:off x="3904399" y="5160163"/>
            <a:ext cx="6596999" cy="798899"/>
          </a:xfrm>
          <a:prstGeom xmlns:a="http://schemas.openxmlformats.org/drawingml/2006/main" prst="straightConnector1">
            <a:avLst/>
          </a:prstGeom>
          <a:ln xmlns:a="http://schemas.openxmlformats.org/drawingml/2006/main" w="50800" cap="rnd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8" name="Shape 204">
            <a:extLst xmlns:a="http://schemas.openxmlformats.org/drawingml/2006/main">
              <a:ext uri="{FF2B5EF4-FFF2-40B4-BE49-F238E27FC236}">
                <a16:creationId xmlns:a16="http://schemas.microsoft.com/office/drawing/2014/main" id="{16DF6EB2-C172-4D9F-8E57-B7D52029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124" y="5997591"/>
            <a:ext cx="7280400" cy="22160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z = ['Joseph', 'Glenn', 'Sally']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for x in z:</a:t>
            </a:r>
          </a:p>
          <a:p xmlns:a="http://schemas.openxmlformats.org/drawingml/2006/main">
            <a:pPr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   print('Happy New Year:', x)</a:t>
            </a:r>
          </a:p>
          <a:p xmlns:a="http://schemas.openxmlformats.org/drawingml/2006/main">
            <a:pPr>
              <a:buNone/>
            </a:pPr>
            <a:r>
              <a:rPr sz="24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print('Done!')</a:t>
            </a:r>
          </a:p>
        </p:txBody>
      </p:sp>
    </p:spTree>
    <p:extLst>
      <p:ext uri="{BB962C8B-B14F-4D97-AF65-F5344CB8AC3E}">
        <p14:creationId xmlns:p14="http://schemas.microsoft.com/office/powerpoint/2010/main" val="143186153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3" name="Shape 213">
            <a:extLst xmlns:a="http://schemas.openxmlformats.org/drawingml/2006/main">
              <a:ext uri="{FF2B5EF4-FFF2-40B4-BE49-F238E27FC236}">
                <a16:creationId xmlns:a16="http://schemas.microsoft.com/office/drawing/2014/main" id="{E4BBF943-716A-44FE-BDBF-EB449220A7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Looking Inside Lists</a:t>
            </a:r>
          </a:p>
        </p:txBody>
      </p:sp>
      <p:sp>
        <p:nvSpPr>
          <p:cNvPr id="214" name="Shape 214">
            <a:extLst xmlns:a="http://schemas.openxmlformats.org/drawingml/2006/main">
              <a:ext uri="{FF2B5EF4-FFF2-40B4-BE49-F238E27FC236}">
                <a16:creationId xmlns:a16="http://schemas.microsoft.com/office/drawing/2014/main" id="{045FE41C-66E8-4ED2-A324-A6B0A34B0D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55700" y="2603501"/>
            <a:ext cx="13931900" cy="308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Just like strings, we can get at any single element in a list using an index specified in</a:t>
            </a:r>
            <a:r>
              <a:rPr sz="3600" u="none" cap="none">
                <a:solidFill>
                  <a:srgbClr val="00FFFF"/>
                </a:solidFill>
                <a:latin typeface="Arial"/>
                <a:ea typeface="Arial"/>
                <a:cs typeface="Arial"/>
              </a:rPr>
              <a:t> square brackets</a:t>
            </a:r>
          </a:p>
        </p:txBody>
      </p:sp>
      <p:pic>
        <p:nvPicPr>
          <p:cNvPr id="226" name="Shape 2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2a53372bbf4497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58775" y="992909"/>
            <a:ext cx="2736850" cy="1828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16" name="Shape 216">
            <a:extLst xmlns:a="http://schemas.openxmlformats.org/drawingml/2006/main">
              <a:ext uri="{FF2B5EF4-FFF2-40B4-BE49-F238E27FC236}">
                <a16:creationId xmlns:a16="http://schemas.microsoft.com/office/drawing/2014/main" id="{ACFADAF8-BCEE-42AF-AE69-457265C8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200" y="6375401"/>
            <a:ext cx="736599" cy="7365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7" name="Shape 217">
            <a:extLst xmlns:a="http://schemas.openxmlformats.org/drawingml/2006/main">
              <a:ext uri="{FF2B5EF4-FFF2-40B4-BE49-F238E27FC236}">
                <a16:creationId xmlns:a16="http://schemas.microsoft.com/office/drawing/2014/main" id="{63DC3487-DC52-480C-903B-5549E432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700" y="5651501"/>
            <a:ext cx="1879599" cy="7365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0800" cmpd="sng">
            <a:solidFill>
              <a:srgbClr val="FF7F00"/>
            </a:solidFill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Joseph</a:t>
            </a:r>
          </a:p>
        </p:txBody>
      </p:sp>
      <p:sp>
        <p:nvSpPr>
          <p:cNvPr id="218" name="Shape 218">
            <a:extLst xmlns:a="http://schemas.openxmlformats.org/drawingml/2006/main">
              <a:ext uri="{FF2B5EF4-FFF2-40B4-BE49-F238E27FC236}">
                <a16:creationId xmlns:a16="http://schemas.microsoft.com/office/drawing/2014/main" id="{E33889C7-A57D-44C0-8817-650EBA78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65701"/>
            <a:ext cx="8156400" cy="2339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4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friends</a:t>
            </a: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= </a:t>
            </a:r>
            <a:r>
              <a:rPr sz="24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[ 'Joseph', 'Glenn', 'Sally' 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4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print(</a:t>
            </a:r>
            <a:r>
              <a:rPr sz="24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friends</a:t>
            </a:r>
            <a:r>
              <a:rPr sz="2400" b="1" i="0" u="none" cap="none">
                <a:solidFill>
                  <a:srgbClr val="00FFFF"/>
                </a:solidFill>
                <a:latin typeface="Courier"/>
                <a:ea typeface="Courier"/>
                <a:cs typeface="Courier"/>
              </a:rPr>
              <a:t>[</a:t>
            </a: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1</a:t>
            </a:r>
            <a:r>
              <a:rPr sz="2400" b="1" i="0" u="none" cap="none">
                <a:solidFill>
                  <a:srgbClr val="00FFFF"/>
                </a:solidFill>
                <a:latin typeface="Courier"/>
                <a:ea typeface="Courier"/>
                <a:cs typeface="Courier"/>
              </a:rPr>
              <a:t>]</a:t>
            </a:r>
            <a:r>
              <a:rPr sz="24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Glenn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</a:p>
        </p:txBody>
      </p:sp>
      <p:sp>
        <p:nvSpPr>
          <p:cNvPr id="219" name="Shape 219">
            <a:extLst xmlns:a="http://schemas.openxmlformats.org/drawingml/2006/main">
              <a:ext uri="{FF2B5EF4-FFF2-40B4-BE49-F238E27FC236}">
                <a16:creationId xmlns:a16="http://schemas.microsoft.com/office/drawing/2014/main" id="{D8B75CA0-EABE-4B7D-B359-5C4E9916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800" y="6375401"/>
            <a:ext cx="736599" cy="7365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0" name="Shape 220">
            <a:extLst xmlns:a="http://schemas.openxmlformats.org/drawingml/2006/main">
              <a:ext uri="{FF2B5EF4-FFF2-40B4-BE49-F238E27FC236}">
                <a16:creationId xmlns:a16="http://schemas.microsoft.com/office/drawing/2014/main" id="{43765C14-0BAF-45BF-B9C7-EA3A9219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300" y="5651501"/>
            <a:ext cx="1879599" cy="7365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0800" cmpd="sng">
            <a:solidFill>
              <a:srgbClr val="FF7F00"/>
            </a:solidFill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Glenn</a:t>
            </a:r>
          </a:p>
        </p:txBody>
      </p:sp>
      <p:sp>
        <p:nvSpPr>
          <p:cNvPr id="221" name="Shape 221">
            <a:extLst xmlns:a="http://schemas.openxmlformats.org/drawingml/2006/main">
              <a:ext uri="{FF2B5EF4-FFF2-40B4-BE49-F238E27FC236}">
                <a16:creationId xmlns:a16="http://schemas.microsoft.com/office/drawing/2014/main" id="{1232E2C7-B22D-46AE-AC80-176031BA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375401"/>
            <a:ext cx="736599" cy="7365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22" name="Shape 222">
            <a:extLst xmlns:a="http://schemas.openxmlformats.org/drawingml/2006/main">
              <a:ext uri="{FF2B5EF4-FFF2-40B4-BE49-F238E27FC236}">
                <a16:creationId xmlns:a16="http://schemas.microsoft.com/office/drawing/2014/main" id="{65611D7E-3D03-48C7-A2BD-213942F4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651501"/>
            <a:ext cx="1879599" cy="7365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0800" cmpd="sng">
            <a:solidFill>
              <a:srgbClr val="FF7F00"/>
            </a:solidFill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Sally</a:t>
            </a:r>
          </a:p>
        </p:txBody>
      </p:sp>
    </p:spTree>
    <p:extLst>
      <p:ext uri="{BB962C8B-B14F-4D97-AF65-F5344CB8AC3E}">
        <p14:creationId xmlns:p14="http://schemas.microsoft.com/office/powerpoint/2010/main" val="197518102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7" name="Shape 227">
            <a:extLst xmlns:a="http://schemas.openxmlformats.org/drawingml/2006/main">
              <a:ext uri="{FF2B5EF4-FFF2-40B4-BE49-F238E27FC236}">
                <a16:creationId xmlns:a16="http://schemas.microsoft.com/office/drawing/2014/main" id="{CD050E00-5CFE-463D-8DC6-35F8220EDF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55700" y="789709"/>
            <a:ext cx="13449300" cy="1750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Lists are Mutable</a:t>
            </a:r>
          </a:p>
        </p:txBody>
      </p:sp>
      <p:sp>
        <p:nvSpPr>
          <p:cNvPr id="228" name="Shape 228">
            <a:extLst xmlns:a="http://schemas.openxmlformats.org/drawingml/2006/main">
              <a:ext uri="{FF2B5EF4-FFF2-40B4-BE49-F238E27FC236}">
                <a16:creationId xmlns:a16="http://schemas.microsoft.com/office/drawing/2014/main" id="{0A7F2C6F-4C11-4344-AFE5-8088599DBE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55700" y="2603501"/>
            <a:ext cx="7331075" cy="515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457200" indent="-4445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Strings are </a:t>
            </a:r>
            <a:r>
              <a:rPr sz="3400">
                <a:solidFill>
                  <a:schemeClr val="lt1"/>
                </a:solidFill>
                <a:latin typeface="Arial"/>
                <a:ea typeface="Arial"/>
                <a:cs typeface="Arial"/>
              </a:rPr>
              <a:t>“</a:t>
            </a:r>
            <a:r>
              <a:rPr sz="3400" u="none" cap="none">
                <a:solidFill>
                  <a:srgbClr val="00FF00"/>
                </a:solidFill>
                <a:latin typeface="Arial"/>
                <a:ea typeface="Arial"/>
                <a:cs typeface="Arial"/>
              </a:rPr>
              <a:t>immutable</a:t>
            </a:r>
            <a:r>
              <a:rPr sz="3400">
                <a:solidFill>
                  <a:schemeClr val="lt1"/>
                </a:solidFill>
                <a:latin typeface="Arial"/>
                <a:ea typeface="Arial"/>
                <a:cs typeface="Arial"/>
              </a:rPr>
              <a:t>”</a:t>
            </a: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- we cannot change the contents of a string - we must make a </a:t>
            </a:r>
            <a:r>
              <a:rPr sz="34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new string</a:t>
            </a: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to make any change</a:t>
            </a:r>
          </a:p>
          <a:p xmlns:a="http://schemas.openxmlformats.org/drawingml/2006/main">
            <a:pPr marL="457200" indent="-444500">
              <a:spcAft>
                <a:spcPts val="1000"/>
              </a:spcAft>
              <a:buNone/>
            </a:pP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Lists are </a:t>
            </a:r>
            <a:r>
              <a:rPr sz="3400">
                <a:solidFill>
                  <a:schemeClr val="lt1"/>
                </a:solidFill>
                <a:latin typeface="Arial"/>
                <a:ea typeface="Arial"/>
                <a:cs typeface="Arial"/>
              </a:rPr>
              <a:t>“</a:t>
            </a:r>
            <a:r>
              <a:rPr sz="3400" u="none" cap="none">
                <a:solidFill>
                  <a:srgbClr val="00FF00"/>
                </a:solidFill>
                <a:latin typeface="Arial"/>
                <a:ea typeface="Arial"/>
                <a:cs typeface="Arial"/>
              </a:rPr>
              <a:t>mutable</a:t>
            </a:r>
            <a:r>
              <a:rPr sz="3400">
                <a:solidFill>
                  <a:schemeClr val="lt1"/>
                </a:solidFill>
                <a:latin typeface="Arial"/>
                <a:ea typeface="Arial"/>
                <a:cs typeface="Arial"/>
              </a:rPr>
              <a:t>”</a:t>
            </a: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</a:t>
            </a: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- we can </a:t>
            </a:r>
            <a:r>
              <a:rPr sz="34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change</a:t>
            </a: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an element of a list using the </a:t>
            </a:r>
            <a:r>
              <a:rPr sz="3400" u="none" cap="none">
                <a:solidFill>
                  <a:srgbClr val="00FFFF"/>
                </a:solidFill>
                <a:latin typeface="Arial"/>
                <a:ea typeface="Arial"/>
                <a:cs typeface="Arial"/>
              </a:rPr>
              <a:t>index</a:t>
            </a: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operator</a:t>
            </a:r>
          </a:p>
        </p:txBody>
      </p:sp>
      <p:sp>
        <p:nvSpPr>
          <p:cNvPr id="229" name="Shape 229">
            <a:extLst xmlns:a="http://schemas.openxmlformats.org/drawingml/2006/main">
              <a:ext uri="{FF2B5EF4-FFF2-40B4-BE49-F238E27FC236}">
                <a16:creationId xmlns:a16="http://schemas.microsoft.com/office/drawing/2014/main" id="{8FE70917-6EB8-473C-AA96-E39AC1A8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300" y="2247900"/>
            <a:ext cx="6464399" cy="59694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4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fruit</a:t>
            </a: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= 'Banana</a:t>
            </a:r>
            <a:r>
              <a:rPr sz="2400" b="1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'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4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fruit</a:t>
            </a:r>
            <a:r>
              <a:rPr sz="2400" b="1" i="0" u="none" cap="none">
                <a:solidFill>
                  <a:srgbClr val="00FFFF"/>
                </a:solidFill>
                <a:latin typeface="Courier"/>
                <a:ea typeface="Courier"/>
                <a:cs typeface="Courier"/>
              </a:rPr>
              <a:t>[</a:t>
            </a: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0</a:t>
            </a:r>
            <a:r>
              <a:rPr sz="2400" b="1" i="0" u="none" cap="none">
                <a:solidFill>
                  <a:srgbClr val="00FFFF"/>
                </a:solidFill>
                <a:latin typeface="Courier"/>
                <a:ea typeface="Courier"/>
                <a:cs typeface="Courier"/>
              </a:rPr>
              <a:t>]</a:t>
            </a: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= 'b</a:t>
            </a:r>
            <a:r>
              <a:rPr sz="2400" b="1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'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rgbClr val="E06666"/>
                </a:solidFill>
                <a:latin typeface="Courier"/>
                <a:ea typeface="Courier"/>
                <a:cs typeface="Courier"/>
              </a:rPr>
              <a:t>Traceback</a:t>
            </a:r>
            <a:r>
              <a:rPr sz="2400" b="1" i="0" u="none" cap="none">
                <a:solidFill>
                  <a:srgbClr val="E06666"/>
                </a:solidFill>
                <a:latin typeface="Courier"/>
                <a:ea typeface="Courier"/>
                <a:cs typeface="Courier"/>
              </a:rPr>
              <a:t> 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rgbClr val="E06666"/>
                </a:solidFill>
                <a:latin typeface="Courier"/>
                <a:ea typeface="Courier"/>
                <a:cs typeface="Courier"/>
              </a:rPr>
              <a:t>TypeError</a:t>
            </a:r>
            <a:r>
              <a:rPr sz="2400" b="1" i="0" u="none" cap="none">
                <a:solidFill>
                  <a:srgbClr val="E06666"/>
                </a:solidFill>
                <a:latin typeface="Courier"/>
                <a:ea typeface="Courier"/>
                <a:cs typeface="Courier"/>
              </a:rPr>
              <a:t>: '</a:t>
            </a:r>
            <a:r>
              <a:rPr sz="2400" b="1" i="0" u="none" cap="none">
                <a:solidFill>
                  <a:srgbClr val="E06666"/>
                </a:solidFill>
                <a:latin typeface="Courier"/>
                <a:ea typeface="Courier"/>
                <a:cs typeface="Courier"/>
              </a:rPr>
              <a:t>str</a:t>
            </a:r>
            <a:r>
              <a:rPr sz="2400" b="1" i="0" u="none" cap="none">
                <a:solidFill>
                  <a:srgbClr val="E06666"/>
                </a:solidFill>
                <a:latin typeface="Courier"/>
                <a:ea typeface="Courier"/>
                <a:cs typeface="Courier"/>
              </a:rPr>
              <a:t>' object does not 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rgbClr val="E06666"/>
                </a:solidFill>
                <a:latin typeface="Courier"/>
                <a:ea typeface="Courier"/>
                <a:cs typeface="Courier"/>
              </a:rPr>
              <a:t>support item assignment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4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x</a:t>
            </a: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= </a:t>
            </a:r>
            <a:r>
              <a:rPr sz="24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fruit</a:t>
            </a:r>
            <a:r>
              <a:rPr sz="24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.lower</a:t>
            </a: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4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print(</a:t>
            </a:r>
            <a:r>
              <a:rPr sz="24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x</a:t>
            </a:r>
            <a:r>
              <a:rPr sz="24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banana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4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lotto</a:t>
            </a: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= </a:t>
            </a:r>
            <a:r>
              <a:rPr sz="24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[2, 14, 26, 41, 63]</a:t>
            </a:r>
          </a:p>
          <a:p xmlns:a="http://schemas.openxmlformats.org/drawingml/2006/main">
            <a:pPr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4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print(</a:t>
            </a:r>
            <a:r>
              <a:rPr sz="24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lotto</a:t>
            </a:r>
            <a:r>
              <a:rPr sz="2400" b="1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[2, 14, 26, 41, 63]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4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lotto</a:t>
            </a:r>
            <a:r>
              <a:rPr sz="2400" b="1" i="0" u="none" cap="none">
                <a:solidFill>
                  <a:srgbClr val="00FFFF"/>
                </a:solidFill>
                <a:latin typeface="Courier"/>
                <a:ea typeface="Courier"/>
                <a:cs typeface="Courier"/>
              </a:rPr>
              <a:t>[</a:t>
            </a: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2</a:t>
            </a:r>
            <a:r>
              <a:rPr sz="2400" b="1" i="0" u="none" cap="none">
                <a:solidFill>
                  <a:srgbClr val="00FFFF"/>
                </a:solidFill>
                <a:latin typeface="Courier"/>
                <a:ea typeface="Courier"/>
                <a:cs typeface="Courier"/>
              </a:rPr>
              <a:t>]</a:t>
            </a: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= 28</a:t>
            </a:r>
          </a:p>
          <a:p xmlns:a="http://schemas.openxmlformats.org/drawingml/2006/main">
            <a:pPr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4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print(</a:t>
            </a:r>
            <a:r>
              <a:rPr sz="24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lotto</a:t>
            </a:r>
            <a:r>
              <a:rPr sz="2400" b="1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[2, 14, </a:t>
            </a:r>
            <a:r>
              <a:rPr sz="24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28</a:t>
            </a: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, 41, 63]</a:t>
            </a:r>
          </a:p>
        </p:txBody>
      </p:sp>
    </p:spTree>
    <p:extLst>
      <p:ext uri="{BB962C8B-B14F-4D97-AF65-F5344CB8AC3E}">
        <p14:creationId xmlns:p14="http://schemas.microsoft.com/office/powerpoint/2010/main" val="202094430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4" name="Shape 234">
            <a:extLst xmlns:a="http://schemas.openxmlformats.org/drawingml/2006/main">
              <a:ext uri="{FF2B5EF4-FFF2-40B4-BE49-F238E27FC236}">
                <a16:creationId xmlns:a16="http://schemas.microsoft.com/office/drawing/2014/main" id="{526442D5-FCF1-4AB5-B089-5A3AF91A1F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55700" y="789709"/>
            <a:ext cx="13144500" cy="1750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How Long is a List?</a:t>
            </a:r>
          </a:p>
        </p:txBody>
      </p:sp>
      <p:sp>
        <p:nvSpPr>
          <p:cNvPr id="235" name="Shape 235">
            <a:extLst xmlns:a="http://schemas.openxmlformats.org/drawingml/2006/main">
              <a:ext uri="{FF2B5EF4-FFF2-40B4-BE49-F238E27FC236}">
                <a16:creationId xmlns:a16="http://schemas.microsoft.com/office/drawing/2014/main" id="{5BC90BD5-BDD8-4A60-A088-946B245EA1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55700" y="2603500"/>
            <a:ext cx="7488238" cy="57022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457200" indent="-4445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The </a:t>
            </a:r>
            <a:r>
              <a:rPr sz="34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len</a:t>
            </a:r>
            <a:r>
              <a:rPr sz="34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()</a:t>
            </a: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function takes a </a:t>
            </a:r>
            <a:r>
              <a:rPr sz="3400" u="none" cap="none">
                <a:solidFill>
                  <a:srgbClr val="FF7F00"/>
                </a:solidFill>
                <a:latin typeface="Arial"/>
                <a:ea typeface="Arial"/>
                <a:cs typeface="Arial"/>
              </a:rPr>
              <a:t>list</a:t>
            </a: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as a parameter and returns the number of </a:t>
            </a:r>
            <a:r>
              <a:rPr sz="3400" u="none" cap="none">
                <a:solidFill>
                  <a:srgbClr val="00FFFF"/>
                </a:solidFill>
                <a:latin typeface="Arial"/>
                <a:ea typeface="Arial"/>
                <a:cs typeface="Arial"/>
              </a:rPr>
              <a:t>elements</a:t>
            </a: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in the </a:t>
            </a:r>
            <a:r>
              <a:rPr sz="3400" u="none" cap="none">
                <a:solidFill>
                  <a:srgbClr val="FF7F00"/>
                </a:solidFill>
                <a:latin typeface="Arial"/>
                <a:ea typeface="Arial"/>
                <a:cs typeface="Arial"/>
              </a:rPr>
              <a:t>list</a:t>
            </a:r>
          </a:p>
          <a:p xmlns:a="http://schemas.openxmlformats.org/drawingml/2006/main">
            <a:pPr marL="457200" indent="-444500" algn="l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None/>
            </a:pP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Actually </a:t>
            </a:r>
            <a:r>
              <a:rPr sz="34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len</a:t>
            </a:r>
            <a:r>
              <a:rPr sz="34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()</a:t>
            </a: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tells us the number of elements of any set or sequence (such as a string...)</a:t>
            </a:r>
          </a:p>
        </p:txBody>
      </p:sp>
      <p:sp>
        <p:nvSpPr>
          <p:cNvPr id="236" name="Shape 236">
            <a:extLst xmlns:a="http://schemas.openxmlformats.org/drawingml/2006/main">
              <a:ext uri="{FF2B5EF4-FFF2-40B4-BE49-F238E27FC236}">
                <a16:creationId xmlns:a16="http://schemas.microsoft.com/office/drawing/2014/main" id="{6C1D188F-589F-4B33-A11F-22AC86E2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43301"/>
            <a:ext cx="6119700" cy="397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greet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= 'Hello Bob</a:t>
            </a:r>
            <a:r>
              <a:rPr sz="3000" b="1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'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print(</a:t>
            </a:r>
            <a:r>
              <a:rPr sz="30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len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greet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)</a:t>
            </a:r>
            <a:r>
              <a:rPr sz="30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9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x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= </a:t>
            </a:r>
            <a:r>
              <a:rPr sz="30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[ 1, 2, 'joe', 99]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print(</a:t>
            </a:r>
            <a:r>
              <a:rPr sz="30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len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x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)</a:t>
            </a:r>
            <a:r>
              <a:rPr sz="30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4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07636393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1" name="Shape 241">
            <a:extLst xmlns:a="http://schemas.openxmlformats.org/drawingml/2006/main">
              <a:ext uri="{FF2B5EF4-FFF2-40B4-BE49-F238E27FC236}">
                <a16:creationId xmlns:a16="http://schemas.microsoft.com/office/drawing/2014/main" id="{FC28F204-FEE9-4CC9-AE8C-AE45B2EE7B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Using range() in Python 3</a:t>
            </a:r>
          </a:p>
        </p:txBody>
      </p:sp>
      <p:sp>
        <p:nvSpPr>
          <p:cNvPr id="242" name="Shape 242">
            <a:extLst xmlns:a="http://schemas.openxmlformats.org/drawingml/2006/main">
              <a:ext uri="{FF2B5EF4-FFF2-40B4-BE49-F238E27FC236}">
                <a16:creationId xmlns:a16="http://schemas.microsoft.com/office/drawing/2014/main" id="{3BDC1B1E-3C73-49D1-BFE4-B602BCABA3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55700" y="2603500"/>
            <a:ext cx="5916613" cy="57022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457200" indent="-4445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range() returns a range object that represents numbers from zero up to, but not including, the stop value</a:t>
            </a:r>
          </a:p>
          <a:p xmlns:a="http://schemas.openxmlformats.org/drawingml/2006/main">
            <a:pPr marL="457200" indent="-444500" algn="l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None/>
            </a:pP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We can build an index loop with for and an integer index</a:t>
            </a:r>
          </a:p>
        </p:txBody>
      </p:sp>
      <p:sp>
        <p:nvSpPr>
          <p:cNvPr id="243" name="Shape 243">
            <a:extLst xmlns:a="http://schemas.openxmlformats.org/drawingml/2006/main">
              <a:ext uri="{FF2B5EF4-FFF2-40B4-BE49-F238E27FC236}">
                <a16:creationId xmlns:a16="http://schemas.microsoft.com/office/drawing/2014/main" id="{2DE37BFF-9E73-4438-BE18-85D53EFF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200" y="3022600"/>
            <a:ext cx="7843799" cy="443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print(range(4))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range(0, 4)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print(list(range(4)))</a:t>
            </a:r>
          </a:p>
          <a:p xmlns:a="http://schemas.openxmlformats.org/drawingml/2006/main">
            <a:pPr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[0, 1, 2, 3]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friends = ['Joseph', 'Glenn', 'Sally']</a:t>
            </a:r>
          </a:p>
          <a:p xmlns:a="http://schemas.openxmlformats.org/drawingml/2006/main">
            <a:pPr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print(len(friends))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3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print(list(range(len(friends))))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[0, 1, 2]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</a:p>
        </p:txBody>
      </p:sp>
    </p:spTree>
    <p:extLst>
      <p:ext uri="{BB962C8B-B14F-4D97-AF65-F5344CB8AC3E}">
        <p14:creationId xmlns:p14="http://schemas.microsoft.com/office/powerpoint/2010/main" val="5949835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8" name="Shape 248">
            <a:extLst xmlns:a="http://schemas.openxmlformats.org/drawingml/2006/main">
              <a:ext uri="{FF2B5EF4-FFF2-40B4-BE49-F238E27FC236}">
                <a16:creationId xmlns:a16="http://schemas.microsoft.com/office/drawing/2014/main" id="{C07EC163-8C21-4678-BB9A-097D664DB4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A Tale of Two Loops...</a:t>
            </a:r>
          </a:p>
        </p:txBody>
      </p:sp>
      <p:sp>
        <p:nvSpPr>
          <p:cNvPr id="249" name="Shape 249">
            <a:extLst xmlns:a="http://schemas.openxmlformats.org/drawingml/2006/main">
              <a:ext uri="{FF2B5EF4-FFF2-40B4-BE49-F238E27FC236}">
                <a16:creationId xmlns:a16="http://schemas.microsoft.com/office/drawing/2014/main" id="{3EED89FB-67E5-463C-8008-83F960AD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950" y="3118400"/>
            <a:ext cx="7175700" cy="359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friends = ['Joseph', 'Glenn', 'Sally']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for friend in friends:</a:t>
            </a:r>
          </a:p>
          <a:p xmlns:a="http://schemas.openxmlformats.org/drawingml/2006/main">
            <a:pPr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   print('Happy New Year:', friend)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for i in range(len(friends)):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   friend = friends[i]</a:t>
            </a:r>
          </a:p>
          <a:p xmlns:a="http://schemas.openxmlformats.org/drawingml/2006/main">
            <a:pPr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   print('Happy New Year:', friend)</a:t>
            </a:r>
          </a:p>
        </p:txBody>
      </p:sp>
      <p:sp>
        <p:nvSpPr>
          <p:cNvPr id="250" name="Shape 250">
            <a:extLst xmlns:a="http://schemas.openxmlformats.org/drawingml/2006/main">
              <a:ext uri="{FF2B5EF4-FFF2-40B4-BE49-F238E27FC236}">
                <a16:creationId xmlns:a16="http://schemas.microsoft.com/office/drawing/2014/main" id="{A4938A79-0748-43AA-9869-9CE61EA2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25" y="5652525"/>
            <a:ext cx="5591699" cy="213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u="none" cap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Happy New Year: Joseph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u="none" cap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Happy New Year: Glenn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u="none" cap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Happy New Year: Sally</a:t>
            </a:r>
          </a:p>
        </p:txBody>
      </p:sp>
      <p:sp>
        <p:nvSpPr>
          <p:cNvPr id="251" name="Shape 251">
            <a:extLst xmlns:a="http://schemas.openxmlformats.org/drawingml/2006/main">
              <a:ext uri="{FF2B5EF4-FFF2-40B4-BE49-F238E27FC236}">
                <a16:creationId xmlns:a16="http://schemas.microsoft.com/office/drawing/2014/main" id="{F4002805-943C-4530-9068-55A83941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25" y="2509825"/>
            <a:ext cx="7888800" cy="33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4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friends</a:t>
            </a: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= ['Joseph', 'Glenn', 'Sally']</a:t>
            </a:r>
          </a:p>
          <a:p xmlns:a="http://schemas.openxmlformats.org/drawingml/2006/main">
            <a:pPr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4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print(</a:t>
            </a:r>
            <a:r>
              <a:rPr sz="24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len</a:t>
            </a: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</a:t>
            </a:r>
            <a:r>
              <a:rPr sz="24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friends</a:t>
            </a: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)</a:t>
            </a:r>
            <a:r>
              <a:rPr sz="2400" b="1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3</a:t>
            </a:r>
          </a:p>
          <a:p xmlns:a="http://schemas.openxmlformats.org/drawingml/2006/main">
            <a:pPr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4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print(</a:t>
            </a:r>
            <a:r>
              <a:rPr sz="24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list(range</a:t>
            </a: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</a:t>
            </a:r>
            <a:r>
              <a:rPr sz="24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len</a:t>
            </a: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(friends)))</a:t>
            </a:r>
            <a:r>
              <a:rPr sz="2400" b="1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[0, 1, 2]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</a:p>
        </p:txBody>
      </p:sp>
    </p:spTree>
    <p:extLst>
      <p:ext uri="{BB962C8B-B14F-4D97-AF65-F5344CB8AC3E}">
        <p14:creationId xmlns:p14="http://schemas.microsoft.com/office/powerpoint/2010/main" val="74509206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6" name="Shape 256">
            <a:extLst xmlns:a="http://schemas.openxmlformats.org/drawingml/2006/main">
              <a:ext uri="{FF2B5EF4-FFF2-40B4-BE49-F238E27FC236}">
                <a16:creationId xmlns:a16="http://schemas.microsoft.com/office/drawing/2014/main" id="{618C8BCC-1A62-4DCC-95D9-5F29295900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0" u="none" cap="none">
                <a:solidFill>
                  <a:srgbClr val="00FFFF"/>
                </a:solidFill>
                <a:latin typeface="Arial"/>
                <a:ea typeface="Arial"/>
                <a:cs typeface="Arial"/>
              </a:rPr>
              <a:t>Concatenating</a:t>
            </a:r>
            <a:r>
              <a:rPr sz="76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</a:t>
            </a:r>
            <a:r>
              <a:rPr sz="760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Lists Using </a:t>
            </a:r>
            <a:r>
              <a:rPr sz="7600" u="none" cap="none">
                <a:solidFill>
                  <a:srgbClr val="00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257" name="Shape 257">
            <a:extLst xmlns:a="http://schemas.openxmlformats.org/drawingml/2006/main">
              <a:ext uri="{FF2B5EF4-FFF2-40B4-BE49-F238E27FC236}">
                <a16:creationId xmlns:a16="http://schemas.microsoft.com/office/drawing/2014/main" id="{82B72CE6-EC06-4A24-BF6A-C63255E324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778000" y="2933702"/>
            <a:ext cx="5410200" cy="26034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We can create a new list by adding two ex</a:t>
            </a:r>
            <a:r>
              <a:rPr sz="3600">
                <a:solidFill>
                  <a:schemeClr val="lt1"/>
                </a:solidFill>
                <a:latin typeface="Arial"/>
                <a:ea typeface="Arial"/>
                <a:cs typeface="Arial"/>
              </a:rPr>
              <a:t>is</a:t>
            </a:r>
            <a:r>
              <a:rPr sz="36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ting lists together</a:t>
            </a:r>
          </a:p>
        </p:txBody>
      </p:sp>
      <p:sp>
        <p:nvSpPr>
          <p:cNvPr id="258" name="Shape 258">
            <a:extLst xmlns:a="http://schemas.openxmlformats.org/drawingml/2006/main">
              <a:ext uri="{FF2B5EF4-FFF2-40B4-BE49-F238E27FC236}">
                <a16:creationId xmlns:a16="http://schemas.microsoft.com/office/drawing/2014/main" id="{B2B48CE6-0264-4F34-B0AF-F1A00D34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4275" y="2714100"/>
            <a:ext cx="4965900" cy="38765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a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= [1, 2, 3]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 b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= [4, 5, 6]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c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= 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a </a:t>
            </a:r>
            <a:r>
              <a:rPr sz="3000" b="1" i="0" u="none" cap="none">
                <a:solidFill>
                  <a:srgbClr val="00FFFF"/>
                </a:solidFill>
                <a:latin typeface="Courier"/>
                <a:ea typeface="Courier"/>
                <a:cs typeface="Courier"/>
              </a:rPr>
              <a:t>+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 b</a:t>
            </a:r>
          </a:p>
          <a:p xmlns:a="http://schemas.openxmlformats.org/drawingml/2006/main">
            <a:pPr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print(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c</a:t>
            </a:r>
            <a:r>
              <a:rPr sz="3200" b="1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[1, 2, 3, 4, 5, 6]</a:t>
            </a:r>
          </a:p>
          <a:p xmlns:a="http://schemas.openxmlformats.org/drawingml/2006/main">
            <a:pPr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print(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a</a:t>
            </a:r>
            <a:r>
              <a:rPr sz="3200" b="1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[1, 2, 3]</a:t>
            </a:r>
          </a:p>
        </p:txBody>
      </p:sp>
    </p:spTree>
    <p:extLst>
      <p:ext uri="{BB962C8B-B14F-4D97-AF65-F5344CB8AC3E}">
        <p14:creationId xmlns:p14="http://schemas.microsoft.com/office/powerpoint/2010/main" val="81125740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3" name="Shape 263">
            <a:extLst xmlns:a="http://schemas.openxmlformats.org/drawingml/2006/main">
              <a:ext uri="{FF2B5EF4-FFF2-40B4-BE49-F238E27FC236}">
                <a16:creationId xmlns:a16="http://schemas.microsoft.com/office/drawing/2014/main" id="{45EFA280-1ED0-4C7D-A287-DF599FC725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Lists Can Be </a:t>
            </a:r>
            <a:r>
              <a:rPr sz="7600" u="none" cap="none">
                <a:solidFill>
                  <a:srgbClr val="00FFFF"/>
                </a:solidFill>
                <a:latin typeface="Arial"/>
                <a:ea typeface="Arial"/>
                <a:cs typeface="Arial"/>
              </a:rPr>
              <a:t>Sliced</a:t>
            </a:r>
            <a:r>
              <a:rPr sz="7600" u="none" cap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 </a:t>
            </a:r>
            <a:r>
              <a:rPr sz="760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Using</a:t>
            </a:r>
            <a:r>
              <a:rPr sz="76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</a:t>
            </a:r>
            <a:r>
              <a:rPr sz="7600" u="none" cap="none">
                <a:solidFill>
                  <a:srgbClr val="00FFFF"/>
                </a:solidFill>
                <a:latin typeface="Arial"/>
                <a:ea typeface="Arial"/>
                <a:cs typeface="Arial"/>
              </a:rPr>
              <a:t>:</a:t>
            </a:r>
          </a:p>
        </p:txBody>
      </p:sp>
      <p:sp>
        <p:nvSpPr>
          <p:cNvPr id="264" name="Shape 264">
            <a:extLst xmlns:a="http://schemas.openxmlformats.org/drawingml/2006/main">
              <a:ext uri="{FF2B5EF4-FFF2-40B4-BE49-F238E27FC236}">
                <a16:creationId xmlns:a16="http://schemas.microsoft.com/office/drawing/2014/main" id="{2C090A11-6035-4031-95F3-535CF063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200" y="2875600"/>
            <a:ext cx="6941699" cy="4984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t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= [9, 41, 12, 3, 74, 15]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t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[1</a:t>
            </a:r>
            <a:r>
              <a:rPr sz="3000" b="1" i="0" u="none" cap="none">
                <a:solidFill>
                  <a:srgbClr val="00FFFF"/>
                </a:solidFill>
                <a:latin typeface="Courier"/>
                <a:ea typeface="Courier"/>
                <a:cs typeface="Courier"/>
              </a:rPr>
              <a:t>:</a:t>
            </a:r>
            <a:r>
              <a:rPr sz="30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3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[41,12]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t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[</a:t>
            </a:r>
            <a:r>
              <a:rPr sz="3000" b="1" i="0" u="none" cap="none">
                <a:solidFill>
                  <a:srgbClr val="00FFFF"/>
                </a:solidFill>
                <a:latin typeface="Courier"/>
                <a:ea typeface="Courier"/>
                <a:cs typeface="Courier"/>
              </a:rPr>
              <a:t>:</a:t>
            </a:r>
            <a:r>
              <a:rPr sz="30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4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[9, 41, 12, 3]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t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[3</a:t>
            </a:r>
            <a:r>
              <a:rPr sz="3000" b="1" i="0" u="none" cap="none">
                <a:solidFill>
                  <a:srgbClr val="00FFFF"/>
                </a:solidFill>
                <a:latin typeface="Courier"/>
                <a:ea typeface="Courier"/>
                <a:cs typeface="Courier"/>
              </a:rPr>
              <a:t>: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[3, 74, 15]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t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[</a:t>
            </a:r>
            <a:r>
              <a:rPr sz="3000" b="1" i="0" u="none" cap="none">
                <a:solidFill>
                  <a:srgbClr val="00FFFF"/>
                </a:solidFill>
                <a:latin typeface="Courier"/>
                <a:ea typeface="Courier"/>
                <a:cs typeface="Courier"/>
              </a:rPr>
              <a:t>: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[9, 41, 12, 3, 74, 15]</a:t>
            </a:r>
          </a:p>
        </p:txBody>
      </p:sp>
      <p:sp>
        <p:nvSpPr>
          <p:cNvPr id="265" name="Shape 265">
            <a:extLst xmlns:a="http://schemas.openxmlformats.org/drawingml/2006/main">
              <a:ext uri="{FF2B5EF4-FFF2-40B4-BE49-F238E27FC236}">
                <a16:creationId xmlns:a16="http://schemas.microsoft.com/office/drawing/2014/main" id="{F831B4C1-995F-4EE5-878D-2BE55557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6725" y="4033425"/>
            <a:ext cx="5465399" cy="219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u="none" cap="none">
                <a:solidFill>
                  <a:srgbClr val="00FF00"/>
                </a:solidFill>
                <a:latin typeface="Arial"/>
                <a:ea typeface="Arial"/>
                <a:cs typeface="Arial"/>
              </a:rPr>
              <a:t>Remember</a:t>
            </a:r>
            <a:r>
              <a:rPr sz="36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:  Just like in strings, the second number is </a:t>
            </a:r>
            <a:r>
              <a:rPr sz="3600">
                <a:solidFill>
                  <a:schemeClr val="lt1"/>
                </a:solidFill>
                <a:latin typeface="Arial"/>
                <a:ea typeface="Arial"/>
                <a:cs typeface="Arial"/>
              </a:rPr>
              <a:t>“</a:t>
            </a:r>
            <a:r>
              <a:rPr sz="36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up to but not including</a:t>
            </a:r>
            <a:r>
              <a:rPr sz="3600">
                <a:solidFill>
                  <a:schemeClr val="lt1"/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7696332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0" name="Shape 270">
            <a:extLst xmlns:a="http://schemas.openxmlformats.org/drawingml/2006/main">
              <a:ext uri="{FF2B5EF4-FFF2-40B4-BE49-F238E27FC236}">
                <a16:creationId xmlns:a16="http://schemas.microsoft.com/office/drawing/2014/main" id="{7627F297-560E-4D0B-BD4E-5F8B341876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List Methods</a:t>
            </a:r>
          </a:p>
        </p:txBody>
      </p:sp>
      <p:sp>
        <p:nvSpPr>
          <p:cNvPr id="271" name="Shape 271">
            <a:extLst xmlns:a="http://schemas.openxmlformats.org/drawingml/2006/main">
              <a:ext uri="{FF2B5EF4-FFF2-40B4-BE49-F238E27FC236}">
                <a16:creationId xmlns:a16="http://schemas.microsoft.com/office/drawing/2014/main" id="{DCA5913B-E722-41AC-9E4C-7CB3588B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8550" y="3110400"/>
            <a:ext cx="12042899" cy="32258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x = list()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type(x)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&lt;class 'list'&gt;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dir(x)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[... 'append', 'count', 'extend', 'index', 'insert', 'pop', 'remove', 'reverse', 'sort']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</a:p>
        </p:txBody>
      </p:sp>
      <p:sp>
        <p:nvSpPr>
          <p:cNvPr id="272" name="Shape 272">
            <a:extLst xmlns:a="http://schemas.openxmlformats.org/drawingml/2006/main">
              <a:ext uri="{FF2B5EF4-FFF2-40B4-BE49-F238E27FC236}">
                <a16:creationId xmlns:a16="http://schemas.microsoft.com/office/drawing/2014/main" id="{8F91CC64-B09B-40F5-AFF7-AEC3D465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3200" y="7123112"/>
            <a:ext cx="10416900" cy="62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u="sng" cap="none">
                <a:solidFill>
                  <a:srgbClr val="FFFF00"/>
                </a:solidFill>
                <a:latin typeface="Arial"/>
                <a:ea typeface="Arial"/>
                <a:cs typeface="Arial"/>
                <a:hlinkClick xmlns:r="http://schemas.openxmlformats.org/officeDocument/2006/relationships" r:id="R1c33ee8013884859"/>
              </a:rPr>
              <a:t>https://docs.python.org/3/tutorial/datastructures.html</a:t>
            </a:r>
          </a:p>
        </p:txBody>
      </p:sp>
    </p:spTree>
    <p:extLst>
      <p:ext uri="{BB962C8B-B14F-4D97-AF65-F5344CB8AC3E}">
        <p14:creationId xmlns:p14="http://schemas.microsoft.com/office/powerpoint/2010/main" val="135539482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7" name="Shape 277">
            <a:extLst xmlns:a="http://schemas.openxmlformats.org/drawingml/2006/main">
              <a:ext uri="{FF2B5EF4-FFF2-40B4-BE49-F238E27FC236}">
                <a16:creationId xmlns:a16="http://schemas.microsoft.com/office/drawing/2014/main" id="{988F3B45-BB98-427B-9EFC-0B26CA63FC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Building a </a:t>
            </a:r>
            <a:r>
              <a:rPr sz="7600">
                <a:solidFill>
                  <a:srgbClr val="FFD966"/>
                </a:solidFill>
                <a:latin typeface="Arial"/>
                <a:ea typeface="Arial"/>
                <a:cs typeface="Arial"/>
              </a:rPr>
              <a:t>L</a:t>
            </a:r>
            <a:r>
              <a:rPr sz="760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ist from </a:t>
            </a:r>
            <a:r>
              <a:rPr sz="7600">
                <a:solidFill>
                  <a:srgbClr val="FFD966"/>
                </a:solidFill>
                <a:latin typeface="Arial"/>
                <a:ea typeface="Arial"/>
                <a:cs typeface="Arial"/>
              </a:rPr>
              <a:t>S</a:t>
            </a:r>
            <a:r>
              <a:rPr sz="760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cratch</a:t>
            </a:r>
          </a:p>
        </p:txBody>
      </p:sp>
      <p:sp>
        <p:nvSpPr>
          <p:cNvPr id="278" name="Shape 278">
            <a:extLst xmlns:a="http://schemas.openxmlformats.org/drawingml/2006/main">
              <a:ext uri="{FF2B5EF4-FFF2-40B4-BE49-F238E27FC236}">
                <a16:creationId xmlns:a16="http://schemas.microsoft.com/office/drawing/2014/main" id="{27D9D9A8-BD6C-4DCC-905F-DC0E63DC69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55700" y="2603500"/>
            <a:ext cx="6302375" cy="57022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457200" indent="-4445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We can create an empty </a:t>
            </a:r>
            <a:r>
              <a:rPr sz="3400" u="none" cap="none">
                <a:solidFill>
                  <a:srgbClr val="00FF00"/>
                </a:solidFill>
                <a:latin typeface="Arial"/>
                <a:ea typeface="Arial"/>
                <a:cs typeface="Arial"/>
              </a:rPr>
              <a:t>list</a:t>
            </a: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and then add elements using the </a:t>
            </a:r>
            <a:r>
              <a:rPr sz="34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append</a:t>
            </a: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method</a:t>
            </a:r>
          </a:p>
          <a:p xmlns:a="http://schemas.openxmlformats.org/drawingml/2006/main">
            <a:pPr marL="457200" indent="-444500" algn="l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None/>
            </a:pP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The </a:t>
            </a:r>
            <a:r>
              <a:rPr sz="3400" u="none" cap="none">
                <a:solidFill>
                  <a:srgbClr val="00FF00"/>
                </a:solidFill>
                <a:latin typeface="Arial"/>
                <a:ea typeface="Arial"/>
                <a:cs typeface="Arial"/>
              </a:rPr>
              <a:t>list</a:t>
            </a: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stays in order and new elements are </a:t>
            </a:r>
            <a:r>
              <a:rPr sz="34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added</a:t>
            </a: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at the end of the </a:t>
            </a:r>
            <a:r>
              <a:rPr sz="3400" u="none" cap="none">
                <a:solidFill>
                  <a:srgbClr val="00FF00"/>
                </a:solidFill>
                <a:latin typeface="Arial"/>
                <a:ea typeface="Arial"/>
                <a:cs typeface="Arial"/>
              </a:rPr>
              <a:t>list</a:t>
            </a:r>
          </a:p>
        </p:txBody>
      </p:sp>
      <p:sp>
        <p:nvSpPr>
          <p:cNvPr id="279" name="Shape 279">
            <a:extLst xmlns:a="http://schemas.openxmlformats.org/drawingml/2006/main">
              <a:ext uri="{FF2B5EF4-FFF2-40B4-BE49-F238E27FC236}">
                <a16:creationId xmlns:a16="http://schemas.microsoft.com/office/drawing/2014/main" id="{076DCF1B-11BF-44E9-A964-B50EEAC5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7175" y="2990850"/>
            <a:ext cx="7455599" cy="443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stuff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= </a:t>
            </a:r>
            <a:r>
              <a:rPr sz="30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list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stuff</a:t>
            </a:r>
            <a:r>
              <a:rPr sz="30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.append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('book')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stuff</a:t>
            </a:r>
            <a:r>
              <a:rPr sz="30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.append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(99)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print(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stuff</a:t>
            </a:r>
            <a:r>
              <a:rPr sz="30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['book', 99]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stuff</a:t>
            </a:r>
            <a:r>
              <a:rPr sz="30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.append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('cookie')</a:t>
            </a:r>
          </a:p>
          <a:p xmlns:a="http://schemas.openxmlformats.org/drawingml/2006/main">
            <a:pPr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print(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stuff</a:t>
            </a:r>
            <a:r>
              <a:rPr sz="3000" b="1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['book', 99, 'cookie']</a:t>
            </a:r>
          </a:p>
        </p:txBody>
      </p:sp>
    </p:spTree>
    <p:extLst>
      <p:ext uri="{BB962C8B-B14F-4D97-AF65-F5344CB8AC3E}">
        <p14:creationId xmlns:p14="http://schemas.microsoft.com/office/powerpoint/2010/main" val="14763045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4" name="Shape 284">
            <a:extLst xmlns:a="http://schemas.openxmlformats.org/drawingml/2006/main">
              <a:ext uri="{FF2B5EF4-FFF2-40B4-BE49-F238E27FC236}">
                <a16:creationId xmlns:a16="http://schemas.microsoft.com/office/drawing/2014/main" id="{5E5BEAE9-A50C-44D9-8A75-BDF828F083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Is Something in a List?</a:t>
            </a:r>
          </a:p>
        </p:txBody>
      </p:sp>
      <p:sp>
        <p:nvSpPr>
          <p:cNvPr id="285" name="Shape 285">
            <a:extLst xmlns:a="http://schemas.openxmlformats.org/drawingml/2006/main">
              <a:ext uri="{FF2B5EF4-FFF2-40B4-BE49-F238E27FC236}">
                <a16:creationId xmlns:a16="http://schemas.microsoft.com/office/drawing/2014/main" id="{27D7EEAD-3496-4B11-A689-2F96E9F3BC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55700" y="2603500"/>
            <a:ext cx="6573838" cy="57022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457200" indent="-4445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Python provides two </a:t>
            </a:r>
            <a:r>
              <a:rPr sz="3400" u="none" cap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operators</a:t>
            </a: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that let you check if an item is in a list</a:t>
            </a:r>
          </a:p>
          <a:p xmlns:a="http://schemas.openxmlformats.org/drawingml/2006/main">
            <a:pPr marL="457200" indent="-444500" algn="l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None/>
            </a:pP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These are logical operators that return </a:t>
            </a:r>
            <a:r>
              <a:rPr sz="34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True</a:t>
            </a: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or </a:t>
            </a:r>
            <a:r>
              <a:rPr sz="34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False</a:t>
            </a:r>
          </a:p>
          <a:p xmlns:a="http://schemas.openxmlformats.org/drawingml/2006/main">
            <a:pPr marL="457200" indent="-444500" algn="l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None/>
            </a:pP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They do not modify the list</a:t>
            </a:r>
          </a:p>
        </p:txBody>
      </p:sp>
      <p:sp>
        <p:nvSpPr>
          <p:cNvPr id="286" name="Shape 286">
            <a:extLst xmlns:a="http://schemas.openxmlformats.org/drawingml/2006/main">
              <a:ext uri="{FF2B5EF4-FFF2-40B4-BE49-F238E27FC236}">
                <a16:creationId xmlns:a16="http://schemas.microsoft.com/office/drawing/2014/main" id="{C0A7E25F-D493-40DB-8FDC-CCB67248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5238" y="2940050"/>
            <a:ext cx="7131013" cy="443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some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= </a:t>
            </a:r>
            <a:r>
              <a:rPr sz="30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[1, 9, 21, 10, 16]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9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</a:t>
            </a:r>
            <a:r>
              <a:rPr sz="30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in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some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True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15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</a:t>
            </a:r>
            <a:r>
              <a:rPr sz="30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in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some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False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20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</a:t>
            </a:r>
            <a:r>
              <a:rPr sz="30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not in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some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True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</a:p>
        </p:txBody>
      </p:sp>
    </p:spTree>
    <p:extLst>
      <p:ext uri="{BB962C8B-B14F-4D97-AF65-F5344CB8AC3E}">
        <p14:creationId xmlns:p14="http://schemas.microsoft.com/office/powerpoint/2010/main" val="61764954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1" name="Shape 291">
            <a:extLst xmlns:a="http://schemas.openxmlformats.org/drawingml/2006/main">
              <a:ext uri="{FF2B5EF4-FFF2-40B4-BE49-F238E27FC236}">
                <a16:creationId xmlns:a16="http://schemas.microsoft.com/office/drawing/2014/main" id="{14AD5949-DA02-4CE3-B882-1B9A4667C8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0800" tIns="50800" rIns="50800" bIns="508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80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Lists are in Order</a:t>
            </a:r>
          </a:p>
        </p:txBody>
      </p:sp>
      <p:sp>
        <p:nvSpPr>
          <p:cNvPr id="292" name="Shape 292">
            <a:extLst xmlns:a="http://schemas.openxmlformats.org/drawingml/2006/main">
              <a:ext uri="{FF2B5EF4-FFF2-40B4-BE49-F238E27FC236}">
                <a16:creationId xmlns:a16="http://schemas.microsoft.com/office/drawing/2014/main" id="{FEF4929B-CC80-44E1-AF9A-B17D707FFF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2301" y="2603500"/>
            <a:ext cx="5524500" cy="57022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0800" tIns="50800" rIns="50800" bIns="50800" anchor="ctr">
            <a:noAutofit/>
          </a:bodyPr>
          <a:lstStyle xmlns:a="http://schemas.openxmlformats.org/drawingml/2006/main"/>
          <a:p xmlns:a="http://schemas.openxmlformats.org/drawingml/2006/main">
            <a:pPr marL="1104900" indent="-5906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</a:pP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A </a:t>
            </a:r>
            <a:r>
              <a:rPr sz="3400" u="none" cap="none">
                <a:solidFill>
                  <a:srgbClr val="FF7F00"/>
                </a:solidFill>
                <a:latin typeface="Arial"/>
                <a:ea typeface="Arial"/>
                <a:cs typeface="Arial"/>
              </a:rPr>
              <a:t>list</a:t>
            </a: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can hold many items and keeps those items in the order until we do something to change the order</a:t>
            </a:r>
          </a:p>
          <a:p xmlns:a="http://schemas.openxmlformats.org/drawingml/2006/main">
            <a:pPr marL="1104900" indent="-590677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har char="•"/>
            </a:pP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A </a:t>
            </a:r>
            <a:r>
              <a:rPr sz="3400" u="none" cap="none">
                <a:solidFill>
                  <a:srgbClr val="FF7F00"/>
                </a:solidFill>
                <a:latin typeface="Arial"/>
                <a:ea typeface="Arial"/>
                <a:cs typeface="Arial"/>
              </a:rPr>
              <a:t>list</a:t>
            </a: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can be </a:t>
            </a:r>
            <a:r>
              <a:rPr sz="34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sorted</a:t>
            </a: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</a:t>
            </a:r>
            <a:br/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(i.e., change its order)</a:t>
            </a:r>
          </a:p>
          <a:p xmlns:a="http://schemas.openxmlformats.org/drawingml/2006/main">
            <a:pPr marL="1104900" indent="-590677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har char="•"/>
            </a:pP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The </a:t>
            </a:r>
            <a:r>
              <a:rPr sz="34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sort</a:t>
            </a: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method (unlike in strings) means </a:t>
            </a:r>
            <a:r>
              <a:rPr sz="3400">
                <a:solidFill>
                  <a:schemeClr val="lt1"/>
                </a:solidFill>
                <a:latin typeface="Arial"/>
                <a:ea typeface="Arial"/>
                <a:cs typeface="Arial"/>
              </a:rPr>
              <a:t>“</a:t>
            </a:r>
            <a:r>
              <a:rPr sz="34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sort yourself</a:t>
            </a:r>
            <a:r>
              <a:rPr sz="3400">
                <a:solidFill>
                  <a:schemeClr val="lt1"/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  <p:sp>
        <p:nvSpPr>
          <p:cNvPr id="293" name="Shape 293">
            <a:extLst xmlns:a="http://schemas.openxmlformats.org/drawingml/2006/main">
              <a:ext uri="{FF2B5EF4-FFF2-40B4-BE49-F238E27FC236}">
                <a16:creationId xmlns:a16="http://schemas.microsoft.com/office/drawing/2014/main" id="{D0F84B17-4CD7-4A8F-96E1-A4CCEF90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475" y="3041075"/>
            <a:ext cx="8976525" cy="436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6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friends</a:t>
            </a: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= </a:t>
            </a:r>
            <a:r>
              <a:rPr sz="26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[ 'Joseph', 'Glenn', 'Sally' 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</a:t>
            </a:r>
            <a:r>
              <a:rPr sz="26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 </a:t>
            </a:r>
            <a:r>
              <a:rPr sz="26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friends</a:t>
            </a:r>
            <a:r>
              <a:rPr sz="26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.sort</a:t>
            </a: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()</a:t>
            </a:r>
          </a:p>
          <a:p xmlns:a="http://schemas.openxmlformats.org/drawingml/2006/main">
            <a:pPr>
              <a:buNone/>
            </a:pP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6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print(</a:t>
            </a:r>
            <a:r>
              <a:rPr sz="26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friends</a:t>
            </a:r>
            <a:r>
              <a:rPr sz="2600" b="1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['Glenn', 'Joseph', 'Sally']</a:t>
            </a:r>
          </a:p>
          <a:p xmlns:a="http://schemas.openxmlformats.org/drawingml/2006/main">
            <a:pPr>
              <a:buNone/>
            </a:pP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6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</a:t>
            </a:r>
            <a:r>
              <a:rPr sz="2600" b="1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</a:t>
            </a:r>
            <a:r>
              <a:rPr sz="26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friends</a:t>
            </a:r>
            <a:r>
              <a:rPr sz="2600" b="1" i="0" u="none" cap="none">
                <a:solidFill>
                  <a:srgbClr val="00FFFF"/>
                </a:solidFill>
                <a:latin typeface="Courier"/>
                <a:ea typeface="Courier"/>
                <a:cs typeface="Courier"/>
              </a:rPr>
              <a:t>[</a:t>
            </a: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1</a:t>
            </a:r>
            <a:r>
              <a:rPr sz="2600" b="1" i="0" u="none" cap="none">
                <a:solidFill>
                  <a:srgbClr val="00FFFF"/>
                </a:solidFill>
                <a:latin typeface="Courier"/>
                <a:ea typeface="Courier"/>
                <a:cs typeface="Courier"/>
              </a:rPr>
              <a:t>]</a:t>
            </a:r>
            <a:r>
              <a:rPr sz="2600" b="1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Joseph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</a:p>
        </p:txBody>
      </p:sp>
    </p:spTree>
    <p:extLst>
      <p:ext uri="{BB962C8B-B14F-4D97-AF65-F5344CB8AC3E}">
        <p14:creationId xmlns:p14="http://schemas.microsoft.com/office/powerpoint/2010/main" val="1847922346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8" name="Shape 298">
            <a:extLst xmlns:a="http://schemas.openxmlformats.org/drawingml/2006/main">
              <a:ext uri="{FF2B5EF4-FFF2-40B4-BE49-F238E27FC236}">
                <a16:creationId xmlns:a16="http://schemas.microsoft.com/office/drawing/2014/main" id="{9917757F-A940-44F1-AFE9-15E28667E0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Built</a:t>
            </a:r>
            <a:r>
              <a:rPr sz="7600">
                <a:solidFill>
                  <a:srgbClr val="FFD966"/>
                </a:solidFill>
                <a:latin typeface="Arial"/>
                <a:ea typeface="Arial"/>
                <a:cs typeface="Arial"/>
              </a:rPr>
              <a:t>-</a:t>
            </a:r>
            <a:r>
              <a:rPr sz="760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in Functions and Lists</a:t>
            </a:r>
          </a:p>
        </p:txBody>
      </p:sp>
      <p:sp>
        <p:nvSpPr>
          <p:cNvPr id="299" name="Shape 299">
            <a:extLst xmlns:a="http://schemas.openxmlformats.org/drawingml/2006/main">
              <a:ext uri="{FF2B5EF4-FFF2-40B4-BE49-F238E27FC236}">
                <a16:creationId xmlns:a16="http://schemas.microsoft.com/office/drawing/2014/main" id="{B8EF9319-8452-469D-B7AC-150501AE82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55700" y="2603501"/>
            <a:ext cx="5802313" cy="494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457200" indent="-4445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There are a number of </a:t>
            </a:r>
            <a:r>
              <a:rPr sz="34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functions</a:t>
            </a: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built into </a:t>
            </a:r>
            <a:r>
              <a:rPr sz="3400" u="none" cap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Python</a:t>
            </a: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that take </a:t>
            </a:r>
            <a:r>
              <a:rPr sz="3400" u="none" cap="none">
                <a:solidFill>
                  <a:srgbClr val="00FF00"/>
                </a:solidFill>
                <a:latin typeface="Arial"/>
                <a:ea typeface="Arial"/>
                <a:cs typeface="Arial"/>
              </a:rPr>
              <a:t>lists</a:t>
            </a: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as parameters</a:t>
            </a:r>
          </a:p>
          <a:p xmlns:a="http://schemas.openxmlformats.org/drawingml/2006/main">
            <a:pPr marL="457200" indent="-444500" algn="l">
              <a:lnSpc>
                <a:spcPct val="100000"/>
              </a:lnSpc>
              <a:spcBef>
                <a:spcPts val="3500"/>
              </a:spcBef>
              <a:spcAft>
                <a:spcPts val="1000"/>
              </a:spcAft>
              <a:buNone/>
            </a:pP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Remember the loops we built?  These are much simpler.</a:t>
            </a:r>
          </a:p>
        </p:txBody>
      </p:sp>
      <p:sp>
        <p:nvSpPr>
          <p:cNvPr id="300" name="Shape 300">
            <a:extLst xmlns:a="http://schemas.openxmlformats.org/drawingml/2006/main">
              <a:ext uri="{FF2B5EF4-FFF2-40B4-BE49-F238E27FC236}">
                <a16:creationId xmlns:a16="http://schemas.microsoft.com/office/drawing/2014/main" id="{3CF15E03-F909-4913-89C6-6B9B022F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9600" y="2455850"/>
            <a:ext cx="7885799" cy="5540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nums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= [3, 41, 12, 9, 74, 15]</a:t>
            </a:r>
          </a:p>
          <a:p xmlns:a="http://schemas.openxmlformats.org/drawingml/2006/main">
            <a:pPr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print(</a:t>
            </a:r>
            <a:r>
              <a:rPr sz="30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len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nums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)</a:t>
            </a:r>
            <a:r>
              <a:rPr sz="3000" b="1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6</a:t>
            </a:r>
          </a:p>
          <a:p xmlns:a="http://schemas.openxmlformats.org/drawingml/2006/main">
            <a:pPr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print(</a:t>
            </a:r>
            <a:r>
              <a:rPr sz="30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max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nums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)</a:t>
            </a:r>
            <a:r>
              <a:rPr sz="3000" b="1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74</a:t>
            </a:r>
          </a:p>
          <a:p xmlns:a="http://schemas.openxmlformats.org/drawingml/2006/main">
            <a:pPr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print(</a:t>
            </a:r>
            <a:r>
              <a:rPr sz="30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min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nums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)</a:t>
            </a:r>
            <a:r>
              <a:rPr sz="3000" b="1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3</a:t>
            </a:r>
          </a:p>
          <a:p xmlns:a="http://schemas.openxmlformats.org/drawingml/2006/main">
            <a:pPr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</a:t>
            </a:r>
            <a:r>
              <a:rPr sz="3000" b="1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</a:t>
            </a:r>
            <a:r>
              <a:rPr sz="30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sum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nums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)</a:t>
            </a:r>
            <a:r>
              <a:rPr sz="3000" b="1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154</a:t>
            </a:r>
          </a:p>
          <a:p xmlns:a="http://schemas.openxmlformats.org/drawingml/2006/main">
            <a:pPr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</a:t>
            </a:r>
            <a:r>
              <a:rPr sz="3000" b="1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</a:t>
            </a:r>
            <a:r>
              <a:rPr sz="30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sum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nums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)/</a:t>
            </a:r>
            <a:r>
              <a:rPr sz="30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len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nums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)</a:t>
            </a:r>
            <a:r>
              <a:rPr sz="3000" b="1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25.6</a:t>
            </a:r>
          </a:p>
        </p:txBody>
      </p:sp>
    </p:spTree>
    <p:extLst>
      <p:ext uri="{BB962C8B-B14F-4D97-AF65-F5344CB8AC3E}">
        <p14:creationId xmlns:p14="http://schemas.microsoft.com/office/powerpoint/2010/main" val="211947709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5" name="Shape 305">
            <a:extLst xmlns:a="http://schemas.openxmlformats.org/drawingml/2006/main">
              <a:ext uri="{FF2B5EF4-FFF2-40B4-BE49-F238E27FC236}">
                <a16:creationId xmlns:a16="http://schemas.microsoft.com/office/drawing/2014/main" id="{ADE4AAA9-672A-4ED3-9FC9-3B4A642B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4550" y="4800524"/>
            <a:ext cx="8127900" cy="398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numlist = list()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rgbClr val="FFFFFF"/>
                </a:solidFill>
                <a:latin typeface="Courier"/>
                <a:ea typeface="Courier"/>
                <a:cs typeface="Courier"/>
              </a:rPr>
              <a:t>while True: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rgbClr val="FFFFFF"/>
                </a:solidFill>
                <a:latin typeface="Courier"/>
                <a:ea typeface="Courier"/>
                <a:cs typeface="Courier"/>
              </a:rPr>
              <a:t>    inp = input('Enter a number: ')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rgbClr val="FFFFFF"/>
                </a:solidFill>
                <a:latin typeface="Courier"/>
                <a:ea typeface="Courier"/>
                <a:cs typeface="Courier"/>
              </a:rPr>
              <a:t>    if inp == 'done':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rgbClr val="FFFFFF"/>
                </a:solidFill>
                <a:latin typeface="Courier"/>
                <a:ea typeface="Courier"/>
                <a:cs typeface="Courier"/>
              </a:rPr>
              <a:t>        break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    value = float(inp)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    numlist.append(value)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/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rgbClr val="FFFFFF"/>
                </a:solidFill>
                <a:latin typeface="Courier"/>
                <a:ea typeface="Courier"/>
                <a:cs typeface="Courier"/>
              </a:rPr>
              <a:t>average = sum(numlist) / len(numlist)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rgbClr val="FFFFFF"/>
                </a:solidFill>
                <a:latin typeface="Courier"/>
                <a:ea typeface="Courier"/>
                <a:cs typeface="Courier"/>
              </a:rPr>
              <a:t>print('Average:', average)</a:t>
            </a:r>
          </a:p>
        </p:txBody>
      </p:sp>
      <p:sp>
        <p:nvSpPr>
          <p:cNvPr id="306" name="Shape 306">
            <a:extLst xmlns:a="http://schemas.openxmlformats.org/drawingml/2006/main">
              <a:ext uri="{FF2B5EF4-FFF2-40B4-BE49-F238E27FC236}">
                <a16:creationId xmlns:a16="http://schemas.microsoft.com/office/drawing/2014/main" id="{B7F7E0BE-1216-40F1-AE34-601F63B2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125" y="1031888"/>
            <a:ext cx="8127900" cy="4835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total = 0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count = 0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rgbClr val="FFFFFF"/>
                </a:solidFill>
                <a:latin typeface="Courier"/>
                <a:ea typeface="Courier"/>
                <a:cs typeface="Courier"/>
              </a:rPr>
              <a:t>while True: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rgbClr val="FFFFFF"/>
                </a:solidFill>
                <a:latin typeface="Courier"/>
                <a:ea typeface="Courier"/>
                <a:cs typeface="Courier"/>
              </a:rPr>
              <a:t>    inp = input('Enter a number: ')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rgbClr val="FFFFFF"/>
                </a:solidFill>
                <a:latin typeface="Courier"/>
                <a:ea typeface="Courier"/>
                <a:cs typeface="Courier"/>
              </a:rPr>
              <a:t>    if inp == 'done':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rgbClr val="FFFFFF"/>
                </a:solidFill>
                <a:latin typeface="Courier"/>
                <a:ea typeface="Courier"/>
                <a:cs typeface="Courier"/>
              </a:rPr>
              <a:t>        break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rgbClr val="FFFFFF"/>
                </a:solidFill>
                <a:latin typeface="Courier"/>
                <a:ea typeface="Courier"/>
                <a:cs typeface="Courier"/>
              </a:rPr>
              <a:t>    value = float(inp)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    total = total + value     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    count = count + 1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/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rgbClr val="FFFFFF"/>
                </a:solidFill>
                <a:latin typeface="Courier"/>
                <a:ea typeface="Courier"/>
                <a:cs typeface="Courier"/>
              </a:rPr>
              <a:t>average = total / count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rgbClr val="FFFFFF"/>
                </a:solidFill>
                <a:latin typeface="Courier"/>
                <a:ea typeface="Courier"/>
                <a:cs typeface="Courier"/>
              </a:rPr>
              <a:t>print('Average:', average)</a:t>
            </a:r>
          </a:p>
        </p:txBody>
      </p:sp>
      <p:sp>
        <p:nvSpPr>
          <p:cNvPr id="307" name="Shape 307">
            <a:extLst xmlns:a="http://schemas.openxmlformats.org/drawingml/2006/main">
              <a:ext uri="{FF2B5EF4-FFF2-40B4-BE49-F238E27FC236}">
                <a16:creationId xmlns:a16="http://schemas.microsoft.com/office/drawing/2014/main" id="{5D39FD5B-99AD-4243-B3CE-F5E588D1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725" y="828688"/>
            <a:ext cx="5435700" cy="28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u="none" cap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Enter a number: 3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u="none" cap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Enter a number: 9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u="none" cap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Enter a number: 5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u="none" cap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Enter a number: done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u="none" cap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Average: 5.666666666666667</a:t>
            </a:r>
          </a:p>
        </p:txBody>
      </p:sp>
    </p:spTree>
    <p:extLst>
      <p:ext uri="{BB962C8B-B14F-4D97-AF65-F5344CB8AC3E}">
        <p14:creationId xmlns:p14="http://schemas.microsoft.com/office/powerpoint/2010/main" val="9404061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2" name="Shape 312">
            <a:extLst xmlns:a="http://schemas.openxmlformats.org/drawingml/2006/main">
              <a:ext uri="{FF2B5EF4-FFF2-40B4-BE49-F238E27FC236}">
                <a16:creationId xmlns:a16="http://schemas.microsoft.com/office/drawing/2014/main" id="{BCF64006-6F1C-45B1-8F22-2A2D2112E7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Best Friends: Strings and Lists</a:t>
            </a:r>
          </a:p>
        </p:txBody>
      </p:sp>
      <p:sp>
        <p:nvSpPr>
          <p:cNvPr id="313" name="Shape 313">
            <a:extLst xmlns:a="http://schemas.openxmlformats.org/drawingml/2006/main">
              <a:ext uri="{FF2B5EF4-FFF2-40B4-BE49-F238E27FC236}">
                <a16:creationId xmlns:a16="http://schemas.microsoft.com/office/drawing/2014/main" id="{2C8F49C7-CDF5-4406-A33C-5D60E6FA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600" y="2349500"/>
            <a:ext cx="6749100" cy="443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abc</a:t>
            </a:r>
            <a:r>
              <a:rPr sz="30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 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=</a:t>
            </a:r>
            <a:r>
              <a:rPr sz="30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 'With three words</a:t>
            </a:r>
            <a:r>
              <a:rPr sz="3000" b="1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'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stuff</a:t>
            </a:r>
            <a:r>
              <a:rPr sz="30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 =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 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abc</a:t>
            </a:r>
            <a:r>
              <a:rPr sz="30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.split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()</a:t>
            </a:r>
          </a:p>
          <a:p xmlns:a="http://schemas.openxmlformats.org/drawingml/2006/main">
            <a:pPr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</a:t>
            </a:r>
            <a:r>
              <a:rPr sz="3000" b="1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stuff</a:t>
            </a:r>
            <a:r>
              <a:rPr sz="3000" b="1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['With', 'three', 'words']</a:t>
            </a:r>
          </a:p>
          <a:p xmlns:a="http://schemas.openxmlformats.org/drawingml/2006/main">
            <a:pPr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print(</a:t>
            </a:r>
            <a:r>
              <a:rPr sz="30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len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stuff</a:t>
            </a: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)</a:t>
            </a:r>
            <a:r>
              <a:rPr sz="3000" b="1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3</a:t>
            </a:r>
          </a:p>
          <a:p xmlns:a="http://schemas.openxmlformats.org/drawingml/2006/main">
            <a:pPr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30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print(</a:t>
            </a:r>
            <a:r>
              <a:rPr sz="30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stuff</a:t>
            </a:r>
            <a:r>
              <a:rPr sz="3000" b="1" i="0" u="none" cap="none">
                <a:solidFill>
                  <a:srgbClr val="00FFFF"/>
                </a:solidFill>
                <a:latin typeface="Courier"/>
                <a:ea typeface="Courier"/>
                <a:cs typeface="Courier"/>
              </a:rPr>
              <a:t>[</a:t>
            </a:r>
            <a:r>
              <a:rPr sz="30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0</a:t>
            </a:r>
            <a:r>
              <a:rPr sz="3000" b="1" i="0" u="none" cap="none">
                <a:solidFill>
                  <a:srgbClr val="00FFFF"/>
                </a:solidFill>
                <a:latin typeface="Courier"/>
                <a:ea typeface="Courier"/>
                <a:cs typeface="Courier"/>
              </a:rPr>
              <a:t>]</a:t>
            </a:r>
            <a:r>
              <a:rPr sz="3000" b="1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With</a:t>
            </a:r>
          </a:p>
        </p:txBody>
      </p:sp>
      <p:sp>
        <p:nvSpPr>
          <p:cNvPr id="314" name="Shape 314">
            <a:extLst xmlns:a="http://schemas.openxmlformats.org/drawingml/2006/main">
              <a:ext uri="{FF2B5EF4-FFF2-40B4-BE49-F238E27FC236}">
                <a16:creationId xmlns:a16="http://schemas.microsoft.com/office/drawing/2014/main" id="{9206D623-5E68-437B-B6FA-98779F16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2292350"/>
            <a:ext cx="6450900" cy="4984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print(stuff)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['With', 'three', 'words']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for w in stuff:</a:t>
            </a:r>
          </a:p>
          <a:p xmlns:a="http://schemas.openxmlformats.org/drawingml/2006/main">
            <a:pPr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...     print(w)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...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With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three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words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</a:p>
        </p:txBody>
      </p:sp>
      <p:sp>
        <p:nvSpPr>
          <p:cNvPr id="315" name="Shape 315">
            <a:extLst xmlns:a="http://schemas.openxmlformats.org/drawingml/2006/main">
              <a:ext uri="{FF2B5EF4-FFF2-40B4-BE49-F238E27FC236}">
                <a16:creationId xmlns:a16="http://schemas.microsoft.com/office/drawing/2014/main" id="{D9FC427D-534F-4FAA-9559-B21C3943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94550"/>
            <a:ext cx="15125699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Split</a:t>
            </a: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breaks a string into parts and produces a list of strings.  We think of these as words.  We can </a:t>
            </a:r>
            <a:r>
              <a:rPr sz="3400" u="none" cap="none">
                <a:solidFill>
                  <a:srgbClr val="00FFFF"/>
                </a:solidFill>
                <a:latin typeface="Arial"/>
                <a:ea typeface="Arial"/>
                <a:cs typeface="Arial"/>
              </a:rPr>
              <a:t>access</a:t>
            </a: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a particular word or </a:t>
            </a:r>
            <a:r>
              <a:rPr sz="3400" u="none" cap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loop</a:t>
            </a:r>
            <a:r>
              <a:rPr sz="34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through all the words.</a:t>
            </a:r>
          </a:p>
        </p:txBody>
      </p:sp>
    </p:spTree>
    <p:extLst>
      <p:ext uri="{BB962C8B-B14F-4D97-AF65-F5344CB8AC3E}">
        <p14:creationId xmlns:p14="http://schemas.microsoft.com/office/powerpoint/2010/main" val="1723389242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0" name="Shape 320">
            <a:extLst xmlns:a="http://schemas.openxmlformats.org/drawingml/2006/main">
              <a:ext uri="{FF2B5EF4-FFF2-40B4-BE49-F238E27FC236}">
                <a16:creationId xmlns:a16="http://schemas.microsoft.com/office/drawing/2014/main" id="{559262F6-52D8-42EF-BE2F-FCC054E3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199" y="1085851"/>
            <a:ext cx="9364664" cy="702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6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line</a:t>
            </a:r>
            <a:r>
              <a:rPr sz="26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 </a:t>
            </a: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=</a:t>
            </a:r>
            <a:r>
              <a:rPr sz="26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 'A lot               of spaces</a:t>
            </a:r>
            <a:r>
              <a:rPr sz="2600" b="1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'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6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etc</a:t>
            </a:r>
            <a:r>
              <a:rPr sz="26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 </a:t>
            </a: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=</a:t>
            </a:r>
            <a:r>
              <a:rPr sz="26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 </a:t>
            </a:r>
            <a:r>
              <a:rPr sz="26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line.</a:t>
            </a:r>
            <a:r>
              <a:rPr sz="26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split</a:t>
            </a: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6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print(</a:t>
            </a:r>
            <a:r>
              <a:rPr sz="26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etc</a:t>
            </a:r>
            <a:r>
              <a:rPr sz="26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['A', 'lot', 'of', 'spaces']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6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line</a:t>
            </a:r>
            <a:r>
              <a:rPr sz="26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 </a:t>
            </a: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=</a:t>
            </a:r>
            <a:r>
              <a:rPr sz="26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 '</a:t>
            </a:r>
            <a:r>
              <a:rPr sz="26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first</a:t>
            </a:r>
            <a:r>
              <a:rPr sz="2600" b="1" i="0" u="none" cap="none">
                <a:solidFill>
                  <a:srgbClr val="00FFFF"/>
                </a:solidFill>
                <a:latin typeface="Courier"/>
                <a:ea typeface="Courier"/>
                <a:cs typeface="Courier"/>
              </a:rPr>
              <a:t>;</a:t>
            </a:r>
            <a:r>
              <a:rPr sz="26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second</a:t>
            </a:r>
            <a:r>
              <a:rPr sz="2600" b="1" i="0" u="none" cap="none">
                <a:solidFill>
                  <a:srgbClr val="00FFFF"/>
                </a:solidFill>
                <a:latin typeface="Courier"/>
                <a:ea typeface="Courier"/>
                <a:cs typeface="Courier"/>
              </a:rPr>
              <a:t>;</a:t>
            </a:r>
            <a:r>
              <a:rPr sz="26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third</a:t>
            </a:r>
            <a:r>
              <a:rPr sz="2600" b="1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'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6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thing</a:t>
            </a:r>
            <a:r>
              <a:rPr sz="26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 </a:t>
            </a: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=</a:t>
            </a:r>
            <a:r>
              <a:rPr sz="26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 </a:t>
            </a:r>
            <a:r>
              <a:rPr sz="26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line</a:t>
            </a:r>
            <a:r>
              <a:rPr sz="26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.split</a:t>
            </a: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()</a:t>
            </a:r>
          </a:p>
          <a:p xmlns:a="http://schemas.openxmlformats.org/drawingml/2006/main">
            <a:pPr>
              <a:buNone/>
            </a:pP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6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print(</a:t>
            </a:r>
            <a:r>
              <a:rPr sz="26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thing</a:t>
            </a:r>
            <a:r>
              <a:rPr sz="2600" b="1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['</a:t>
            </a: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first;second;third</a:t>
            </a: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']</a:t>
            </a:r>
          </a:p>
          <a:p xmlns:a="http://schemas.openxmlformats.org/drawingml/2006/main">
            <a:pPr>
              <a:buNone/>
            </a:pP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6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print(</a:t>
            </a:r>
            <a:r>
              <a:rPr sz="26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len</a:t>
            </a: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</a:t>
            </a:r>
            <a:r>
              <a:rPr sz="26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thing</a:t>
            </a: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)</a:t>
            </a:r>
            <a:r>
              <a:rPr sz="2600" b="1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1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6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thing</a:t>
            </a:r>
            <a:r>
              <a:rPr sz="26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 </a:t>
            </a: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=</a:t>
            </a:r>
            <a:r>
              <a:rPr sz="26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 </a:t>
            </a:r>
            <a:r>
              <a:rPr sz="26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line</a:t>
            </a:r>
            <a:r>
              <a:rPr sz="26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.split</a:t>
            </a: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</a:t>
            </a:r>
            <a:r>
              <a:rPr sz="2600" b="1" i="0" u="none" cap="none">
                <a:solidFill>
                  <a:srgbClr val="00FFFF"/>
                </a:solidFill>
                <a:latin typeface="Courier"/>
                <a:ea typeface="Courier"/>
                <a:cs typeface="Courier"/>
              </a:rPr>
              <a:t>';'</a:t>
            </a: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>
              <a:buNone/>
            </a:pP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6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print(</a:t>
            </a:r>
            <a:r>
              <a:rPr sz="26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thing</a:t>
            </a:r>
            <a:r>
              <a:rPr sz="2600" b="1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['first', 'second', 'third']</a:t>
            </a:r>
          </a:p>
          <a:p xmlns:a="http://schemas.openxmlformats.org/drawingml/2006/main">
            <a:pPr>
              <a:buNone/>
            </a:pP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6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print(</a:t>
            </a:r>
            <a:r>
              <a:rPr sz="26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len</a:t>
            </a: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</a:t>
            </a:r>
            <a:r>
              <a:rPr sz="26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thing</a:t>
            </a: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)</a:t>
            </a:r>
            <a:r>
              <a:rPr sz="2600" b="1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3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</a:p>
        </p:txBody>
      </p:sp>
      <p:sp>
        <p:nvSpPr>
          <p:cNvPr id="321" name="Shape 321">
            <a:extLst xmlns:a="http://schemas.openxmlformats.org/drawingml/2006/main">
              <a:ext uri="{FF2B5EF4-FFF2-40B4-BE49-F238E27FC236}">
                <a16:creationId xmlns:a16="http://schemas.microsoft.com/office/drawing/2014/main" id="{38F2984D-73CE-4213-8FC7-B1164BC9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644" y="2031185"/>
            <a:ext cx="6490311" cy="4676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457200" indent="-4191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30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When you do not specify a </a:t>
            </a:r>
            <a:r>
              <a:rPr sz="3000" u="none" cap="none">
                <a:solidFill>
                  <a:srgbClr val="00FFFF"/>
                </a:solidFill>
                <a:latin typeface="Arial"/>
                <a:ea typeface="Arial"/>
                <a:cs typeface="Arial"/>
              </a:rPr>
              <a:t>delimiter</a:t>
            </a:r>
            <a:r>
              <a:rPr sz="30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, multiple spaces are treated like</a:t>
            </a:r>
            <a:r>
              <a:rPr sz="3000">
                <a:solidFill>
                  <a:schemeClr val="lt1"/>
                </a:solidFill>
                <a:latin typeface="Arial"/>
                <a:ea typeface="Arial"/>
                <a:cs typeface="Arial"/>
              </a:rPr>
              <a:t> </a:t>
            </a:r>
            <a:r>
              <a:rPr sz="30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one delimiter</a:t>
            </a:r>
          </a:p>
          <a:p xmlns:a="http://schemas.openxmlformats.org/drawingml/2006/main">
            <a:pPr marL="457200" indent="-4191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</a:p>
          <a:p xmlns:a="http://schemas.openxmlformats.org/drawingml/2006/main">
            <a:pPr marL="457200" indent="-4191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30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You can specify what </a:t>
            </a:r>
            <a:r>
              <a:rPr sz="3000" u="none" cap="none">
                <a:solidFill>
                  <a:srgbClr val="00FFFF"/>
                </a:solidFill>
                <a:latin typeface="Arial"/>
                <a:ea typeface="Arial"/>
                <a:cs typeface="Arial"/>
              </a:rPr>
              <a:t>delimiter</a:t>
            </a:r>
            <a:r>
              <a:rPr sz="30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character to use in the </a:t>
            </a:r>
            <a:r>
              <a:rPr sz="30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splitting</a:t>
            </a:r>
          </a:p>
        </p:txBody>
      </p:sp>
    </p:spTree>
    <p:extLst>
      <p:ext uri="{BB962C8B-B14F-4D97-AF65-F5344CB8AC3E}">
        <p14:creationId xmlns:p14="http://schemas.microsoft.com/office/powerpoint/2010/main" val="1729143815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6" name="Shape 326">
            <a:extLst xmlns:a="http://schemas.openxmlformats.org/drawingml/2006/main">
              <a:ext uri="{FF2B5EF4-FFF2-40B4-BE49-F238E27FC236}">
                <a16:creationId xmlns:a16="http://schemas.microsoft.com/office/drawing/2014/main" id="{B82A58CE-D2AB-4855-A97F-40FBE32E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6075" y="2058975"/>
            <a:ext cx="8889299" cy="33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chemeClr val="lt1"/>
            </a:solidFill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 fhand = open('mbox-short.txt')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 for line in fhand: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    line = line.rstrip()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    if not line.startswith('From '):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        continue</a:t>
            </a:r>
          </a:p>
          <a:p xmlns:a="http://schemas.openxmlformats.org/drawingml/2006/main">
            <a:pPr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    words = line.split()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     print(words[2])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7" name="Shape 327">
            <a:extLst xmlns:a="http://schemas.openxmlformats.org/drawingml/2006/main">
              <a:ext uri="{FF2B5EF4-FFF2-40B4-BE49-F238E27FC236}">
                <a16:creationId xmlns:a16="http://schemas.microsoft.com/office/drawing/2014/main" id="{BA16F8CC-71B0-468E-9EEA-61FEDFE2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8200" y="2330450"/>
            <a:ext cx="816000" cy="276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Sat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Fri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Fri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Fri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    ...</a:t>
            </a:r>
          </a:p>
        </p:txBody>
      </p:sp>
      <p:sp>
        <p:nvSpPr>
          <p:cNvPr id="328" name="Shape 328">
            <a:extLst xmlns:a="http://schemas.openxmlformats.org/drawingml/2006/main">
              <a:ext uri="{FF2B5EF4-FFF2-40B4-BE49-F238E27FC236}">
                <a16:creationId xmlns:a16="http://schemas.microsoft.com/office/drawing/2014/main" id="{AF0BFDB4-59D2-4D18-842A-9125BF96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50" y="945775"/>
            <a:ext cx="13070099" cy="673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From stephen.marquard@uct.ac.za </a:t>
            </a:r>
            <a:r>
              <a:rPr sz="3600" b="0" i="0" u="none" cap="none">
                <a:solidFill>
                  <a:srgbClr val="FF00FF"/>
                </a:solidFill>
                <a:latin typeface="Arial"/>
                <a:ea typeface="Arial"/>
                <a:cs typeface="Arial"/>
              </a:rPr>
              <a:t>Sat</a:t>
            </a:r>
            <a:r>
              <a:rPr sz="36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Jan  5 09:14:16 2008</a:t>
            </a:r>
          </a:p>
        </p:txBody>
      </p:sp>
      <p:sp>
        <p:nvSpPr>
          <p:cNvPr id="329" name="Shape 329">
            <a:extLst xmlns:a="http://schemas.openxmlformats.org/drawingml/2006/main">
              <a:ext uri="{FF2B5EF4-FFF2-40B4-BE49-F238E27FC236}">
                <a16:creationId xmlns:a16="http://schemas.microsoft.com/office/drawing/2014/main" id="{DC654774-79BF-4BE4-8F53-8A2C1699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375" y="6000750"/>
            <a:ext cx="14283299" cy="276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4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line</a:t>
            </a: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= 'From </a:t>
            </a: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stephen.marquard@uct.ac.za</a:t>
            </a:r>
            <a:r>
              <a:rPr sz="2400" b="1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Sat Jan  5 09:14:16 2008'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4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words</a:t>
            </a: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= </a:t>
            </a:r>
            <a:r>
              <a:rPr sz="24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line</a:t>
            </a:r>
            <a:r>
              <a:rPr sz="24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.split</a:t>
            </a: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()</a:t>
            </a:r>
          </a:p>
          <a:p xmlns:a="http://schemas.openxmlformats.org/drawingml/2006/main">
            <a:pPr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  <a:r>
              <a:rPr sz="24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print(</a:t>
            </a:r>
            <a:r>
              <a:rPr sz="24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words</a:t>
            </a:r>
            <a:r>
              <a:rPr sz="2400" b="1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['From', '</a:t>
            </a: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stephen.marquard@uct.ac.za</a:t>
            </a: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', 'Sat', 'Jan', '5', '09:14:16', '2008']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&gt;&gt;&gt; </a:t>
            </a:r>
          </a:p>
        </p:txBody>
      </p:sp>
    </p:spTree>
    <p:extLst>
      <p:ext uri="{BB962C8B-B14F-4D97-AF65-F5344CB8AC3E}">
        <p14:creationId xmlns:p14="http://schemas.microsoft.com/office/powerpoint/2010/main" val="1474639275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4" name="Shape 334">
            <a:extLst xmlns:a="http://schemas.openxmlformats.org/drawingml/2006/main">
              <a:ext uri="{FF2B5EF4-FFF2-40B4-BE49-F238E27FC236}">
                <a16:creationId xmlns:a16="http://schemas.microsoft.com/office/drawing/2014/main" id="{4A5A5569-5B38-4A39-8A20-015BE71ED4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The Double Split Pattern</a:t>
            </a:r>
          </a:p>
        </p:txBody>
      </p:sp>
      <p:sp>
        <p:nvSpPr>
          <p:cNvPr id="335" name="Shape 335">
            <a:extLst xmlns:a="http://schemas.openxmlformats.org/drawingml/2006/main">
              <a:ext uri="{FF2B5EF4-FFF2-40B4-BE49-F238E27FC236}">
                <a16:creationId xmlns:a16="http://schemas.microsoft.com/office/drawing/2014/main" id="{966023B4-6385-4141-A958-F52D82C69F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55700" y="2603501"/>
            <a:ext cx="13931900" cy="1296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Sometimes we split a line one way, and then grab one of the pieces of the line and split that piece again</a:t>
            </a:r>
          </a:p>
        </p:txBody>
      </p:sp>
      <p:sp>
        <p:nvSpPr>
          <p:cNvPr id="337" name="Shape 337">
            <a:extLst xmlns:a="http://schemas.openxmlformats.org/drawingml/2006/main">
              <a:ext uri="{FF2B5EF4-FFF2-40B4-BE49-F238E27FC236}">
                <a16:creationId xmlns:a16="http://schemas.microsoft.com/office/drawing/2014/main" id="{ECB0C40C-3162-4B9A-AB12-05098D0F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700" y="4526525"/>
            <a:ext cx="13342799" cy="673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From</a:t>
            </a:r>
            <a:r>
              <a:rPr sz="30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 </a:t>
            </a:r>
            <a:r>
              <a:rPr sz="30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stephen.marquard@</a:t>
            </a:r>
            <a:r>
              <a:rPr sz="30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uct.ac.za</a:t>
            </a:r>
            <a:r>
              <a:rPr sz="30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 </a:t>
            </a:r>
            <a:r>
              <a:rPr sz="3000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Sat Jan  5 09:14:16 2008</a:t>
            </a:r>
          </a:p>
        </p:txBody>
      </p:sp>
      <p:sp>
        <p:nvSpPr>
          <p:cNvPr id="338" name="Shape 338">
            <a:extLst xmlns:a="http://schemas.openxmlformats.org/drawingml/2006/main">
              <a:ext uri="{FF2B5EF4-FFF2-40B4-BE49-F238E27FC236}">
                <a16:creationId xmlns:a16="http://schemas.microsoft.com/office/drawing/2014/main" id="{327F3AEB-1835-44EE-90B2-79CBCBC2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700" y="5289200"/>
            <a:ext cx="5169599" cy="188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words = line.split()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email = words[1]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pieces = email.split('@')</a:t>
            </a:r>
          </a:p>
        </p:txBody>
      </p:sp>
    </p:spTree>
    <p:extLst>
      <p:ext uri="{BB962C8B-B14F-4D97-AF65-F5344CB8AC3E}">
        <p14:creationId xmlns:p14="http://schemas.microsoft.com/office/powerpoint/2010/main" val="379546444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3" name="Shape 343">
            <a:extLst xmlns:a="http://schemas.openxmlformats.org/drawingml/2006/main">
              <a:ext uri="{FF2B5EF4-FFF2-40B4-BE49-F238E27FC236}">
                <a16:creationId xmlns:a16="http://schemas.microsoft.com/office/drawing/2014/main" id="{DE5F6405-B879-4F57-83E8-C48DA0D568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The Double Split Pattern</a:t>
            </a:r>
          </a:p>
        </p:txBody>
      </p:sp>
      <p:sp>
        <p:nvSpPr>
          <p:cNvPr id="345" name="Shape 345">
            <a:extLst xmlns:a="http://schemas.openxmlformats.org/drawingml/2006/main">
              <a:ext uri="{FF2B5EF4-FFF2-40B4-BE49-F238E27FC236}">
                <a16:creationId xmlns:a16="http://schemas.microsoft.com/office/drawing/2014/main" id="{F6B142F5-FB57-4495-AC08-CCE75450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6425" y="5835725"/>
            <a:ext cx="6573899" cy="673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 </a:t>
            </a:r>
            <a:r>
              <a:rPr sz="24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stephen.marquard@uct.ac.za</a:t>
            </a:r>
          </a:p>
        </p:txBody>
      </p:sp>
      <p:sp>
        <p:nvSpPr>
          <p:cNvPr id="346" name="Shape 346">
            <a:extLst xmlns:a="http://schemas.openxmlformats.org/drawingml/2006/main">
              <a:ext uri="{FF2B5EF4-FFF2-40B4-BE49-F238E27FC236}">
                <a16:creationId xmlns:a16="http://schemas.microsoft.com/office/drawing/2014/main" id="{FC492191-3F52-400B-9E90-5FEDA90E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700" y="4506450"/>
            <a:ext cx="13182600" cy="673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From </a:t>
            </a:r>
            <a:r>
              <a:rPr sz="30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stephen.marquard@</a:t>
            </a:r>
            <a:r>
              <a:rPr sz="30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uct.ac.za</a:t>
            </a:r>
            <a:r>
              <a:rPr sz="3000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 Sat Jan  5 09:14:16 2008</a:t>
            </a:r>
          </a:p>
        </p:txBody>
      </p:sp>
      <p:sp>
        <p:nvSpPr>
          <p:cNvPr id="347" name="Shape 347">
            <a:extLst xmlns:a="http://schemas.openxmlformats.org/drawingml/2006/main">
              <a:ext uri="{FF2B5EF4-FFF2-40B4-BE49-F238E27FC236}">
                <a16:creationId xmlns:a16="http://schemas.microsoft.com/office/drawing/2014/main" id="{E2E49EE7-B551-4CDC-B50A-51B14665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700" y="5289200"/>
            <a:ext cx="5169599" cy="188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words = line.split()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email = words[1]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pieces = email.split('@')</a:t>
            </a:r>
          </a:p>
        </p:txBody>
      </p:sp>
    </p:spTree>
    <p:extLst>
      <p:ext uri="{BB962C8B-B14F-4D97-AF65-F5344CB8AC3E}">
        <p14:creationId xmlns:p14="http://schemas.microsoft.com/office/powerpoint/2010/main" val="693593040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2" name="Shape 352">
            <a:extLst xmlns:a="http://schemas.openxmlformats.org/drawingml/2006/main">
              <a:ext uri="{FF2B5EF4-FFF2-40B4-BE49-F238E27FC236}">
                <a16:creationId xmlns:a16="http://schemas.microsoft.com/office/drawing/2014/main" id="{FC411F84-8D75-490A-B8BA-4571BBCA1F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The Double Split Pattern</a:t>
            </a:r>
          </a:p>
        </p:txBody>
      </p:sp>
      <p:sp>
        <p:nvSpPr>
          <p:cNvPr id="353" name="Shape 353">
            <a:extLst xmlns:a="http://schemas.openxmlformats.org/drawingml/2006/main">
              <a:ext uri="{FF2B5EF4-FFF2-40B4-BE49-F238E27FC236}">
                <a16:creationId xmlns:a16="http://schemas.microsoft.com/office/drawing/2014/main" id="{394F2357-6E54-4B53-9613-1AA8C588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1275" y="6326775"/>
            <a:ext cx="6981300" cy="482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['</a:t>
            </a:r>
            <a:r>
              <a:rPr sz="24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stephen.marquard</a:t>
            </a:r>
            <a:r>
              <a:rPr sz="24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', '</a:t>
            </a:r>
            <a:r>
              <a:rPr sz="24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uct.ac.za</a:t>
            </a:r>
            <a:r>
              <a:rPr sz="24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']</a:t>
            </a:r>
          </a:p>
        </p:txBody>
      </p:sp>
      <p:sp>
        <p:nvSpPr>
          <p:cNvPr id="355" name="Shape 355">
            <a:extLst xmlns:a="http://schemas.openxmlformats.org/drawingml/2006/main">
              <a:ext uri="{FF2B5EF4-FFF2-40B4-BE49-F238E27FC236}">
                <a16:creationId xmlns:a16="http://schemas.microsoft.com/office/drawing/2014/main" id="{0267B38C-931C-4EDD-98C2-61ABA047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700" y="4526525"/>
            <a:ext cx="13342799" cy="673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From </a:t>
            </a:r>
            <a:r>
              <a:rPr sz="30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stephen.marquard@</a:t>
            </a:r>
            <a:r>
              <a:rPr sz="30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uct.ac.za</a:t>
            </a:r>
            <a:r>
              <a:rPr sz="30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 </a:t>
            </a:r>
            <a:r>
              <a:rPr sz="3000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Sat Jan  5 09:14:16 2008</a:t>
            </a:r>
          </a:p>
        </p:txBody>
      </p:sp>
      <p:sp>
        <p:nvSpPr>
          <p:cNvPr id="356" name="Shape 356">
            <a:extLst xmlns:a="http://schemas.openxmlformats.org/drawingml/2006/main">
              <a:ext uri="{FF2B5EF4-FFF2-40B4-BE49-F238E27FC236}">
                <a16:creationId xmlns:a16="http://schemas.microsoft.com/office/drawing/2014/main" id="{46533B7B-E39D-4E2E-92B1-9131BF9C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700" y="5441600"/>
            <a:ext cx="6179100" cy="188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words = line.split()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email = words[1]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pieces = email.split('@')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rgbClr val="000000"/>
                </a:solidFill>
                <a:latin typeface="Courier"/>
                <a:ea typeface="Courier"/>
                <a:cs typeface="Courier"/>
              </a:rPr>
              <a:t>print(pieces[1])</a:t>
            </a:r>
          </a:p>
        </p:txBody>
      </p:sp>
      <p:sp>
        <p:nvSpPr>
          <p:cNvPr id="357" name="Shape 357">
            <a:extLst xmlns:a="http://schemas.openxmlformats.org/drawingml/2006/main">
              <a:ext uri="{FF2B5EF4-FFF2-40B4-BE49-F238E27FC236}">
                <a16:creationId xmlns:a16="http://schemas.microsoft.com/office/drawing/2014/main" id="{33938CC4-4547-4CC7-A465-15357A35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6425" y="5759525"/>
            <a:ext cx="6573899" cy="673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stephen.marquard@uct.ac.za</a:t>
            </a:r>
          </a:p>
        </p:txBody>
      </p:sp>
    </p:spTree>
    <p:extLst>
      <p:ext uri="{BB962C8B-B14F-4D97-AF65-F5344CB8AC3E}">
        <p14:creationId xmlns:p14="http://schemas.microsoft.com/office/powerpoint/2010/main" val="1717278898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2" name="Shape 362">
            <a:extLst xmlns:a="http://schemas.openxmlformats.org/drawingml/2006/main">
              <a:ext uri="{FF2B5EF4-FFF2-40B4-BE49-F238E27FC236}">
                <a16:creationId xmlns:a16="http://schemas.microsoft.com/office/drawing/2014/main" id="{471D82B6-B24D-4BE9-960D-DA4AC2B282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The Double Split Pattern</a:t>
            </a:r>
          </a:p>
        </p:txBody>
      </p:sp>
      <p:sp>
        <p:nvSpPr>
          <p:cNvPr id="364" name="Shape 364">
            <a:extLst xmlns:a="http://schemas.openxmlformats.org/drawingml/2006/main">
              <a:ext uri="{FF2B5EF4-FFF2-40B4-BE49-F238E27FC236}">
                <a16:creationId xmlns:a16="http://schemas.microsoft.com/office/drawing/2014/main" id="{5D0556AE-1006-4BAE-ACC1-924D7914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1275" y="6326775"/>
            <a:ext cx="6981300" cy="482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['</a:t>
            </a:r>
            <a:r>
              <a:rPr sz="24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stephen.marquard</a:t>
            </a:r>
            <a:r>
              <a:rPr sz="24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', '</a:t>
            </a:r>
            <a:r>
              <a:rPr sz="24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uct.ac.za</a:t>
            </a:r>
            <a:r>
              <a:rPr sz="24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']</a:t>
            </a:r>
          </a:p>
        </p:txBody>
      </p:sp>
      <p:sp>
        <p:nvSpPr>
          <p:cNvPr id="365" name="Shape 365">
            <a:extLst xmlns:a="http://schemas.openxmlformats.org/drawingml/2006/main">
              <a:ext uri="{FF2B5EF4-FFF2-40B4-BE49-F238E27FC236}">
                <a16:creationId xmlns:a16="http://schemas.microsoft.com/office/drawing/2014/main" id="{4996386E-EEE2-4BAF-A374-A86A5C72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700" y="4526525"/>
            <a:ext cx="13342799" cy="673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From </a:t>
            </a:r>
            <a:r>
              <a:rPr sz="30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stephen.marquard@</a:t>
            </a:r>
            <a:r>
              <a:rPr sz="3000" b="1" i="0" u="none" cap="none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uct.ac.za</a:t>
            </a:r>
            <a:r>
              <a:rPr sz="3000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 Sat Jan  5 09:14:16 2008</a:t>
            </a:r>
          </a:p>
        </p:txBody>
      </p:sp>
      <p:sp>
        <p:nvSpPr>
          <p:cNvPr id="366" name="Shape 366">
            <a:extLst xmlns:a="http://schemas.openxmlformats.org/drawingml/2006/main">
              <a:ext uri="{FF2B5EF4-FFF2-40B4-BE49-F238E27FC236}">
                <a16:creationId xmlns:a16="http://schemas.microsoft.com/office/drawing/2014/main" id="{AE2278FB-DBEF-4A61-A99C-19AEC335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700" y="5594000"/>
            <a:ext cx="6179100" cy="188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words = </a:t>
            </a:r>
            <a:r>
              <a:rPr sz="2400" b="1" i="0" u="none" cap="none">
                <a:solidFill>
                  <a:srgbClr val="FF7F00"/>
                </a:solidFill>
                <a:latin typeface="Courier"/>
                <a:ea typeface="Courier"/>
                <a:cs typeface="Courier"/>
              </a:rPr>
              <a:t>line</a:t>
            </a: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.split</a:t>
            </a: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email</a:t>
            </a:r>
            <a:r>
              <a:rPr sz="2400" b="1" i="0" u="none" cap="none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= words[1]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FFFF00"/>
                </a:solidFill>
                <a:latin typeface="Courier"/>
                <a:ea typeface="Courier"/>
                <a:cs typeface="Courier"/>
              </a:rPr>
              <a:t>pieces</a:t>
            </a:r>
            <a:r>
              <a:rPr sz="2400" b="1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 = </a:t>
            </a:r>
            <a:r>
              <a:rPr sz="2400" b="1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email.split</a:t>
            </a:r>
            <a:r>
              <a:rPr sz="2400" b="1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('@')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chemeClr val="lt1"/>
                </a:solidFill>
                <a:latin typeface="Courier"/>
                <a:ea typeface="Courier"/>
                <a:cs typeface="Courier"/>
              </a:rPr>
              <a:t>print(</a:t>
            </a:r>
            <a:r>
              <a:rPr sz="2400" b="1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pieces[1]</a:t>
            </a:r>
            <a:r>
              <a:rPr sz="2400" b="1">
                <a:solidFill>
                  <a:schemeClr val="bg1"/>
                </a:solidFill>
                <a:latin typeface="Courier"/>
                <a:ea typeface="Courier"/>
                <a:cs typeface="Courier"/>
              </a:rPr>
              <a:t>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7" name="Shape 367">
            <a:extLst xmlns:a="http://schemas.openxmlformats.org/drawingml/2006/main">
              <a:ext uri="{FF2B5EF4-FFF2-40B4-BE49-F238E27FC236}">
                <a16:creationId xmlns:a16="http://schemas.microsoft.com/office/drawing/2014/main" id="{3C395314-CED2-4E1D-AA32-11361679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6425" y="5759525"/>
            <a:ext cx="6573899" cy="673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rgbClr val="FF00FF"/>
                </a:solidFill>
                <a:latin typeface="Courier"/>
                <a:ea typeface="Courier"/>
                <a:cs typeface="Courier"/>
              </a:rPr>
              <a:t>stephen.marquard@uct.ac.za</a:t>
            </a:r>
          </a:p>
        </p:txBody>
      </p:sp>
      <p:sp>
        <p:nvSpPr>
          <p:cNvPr id="368" name="Shape 368">
            <a:extLst xmlns:a="http://schemas.openxmlformats.org/drawingml/2006/main">
              <a:ext uri="{FF2B5EF4-FFF2-40B4-BE49-F238E27FC236}">
                <a16:creationId xmlns:a16="http://schemas.microsoft.com/office/drawing/2014/main" id="{EE95E218-F1B7-4598-B9B6-DE8480E3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6300" y="6766900"/>
            <a:ext cx="2729099" cy="548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'</a:t>
            </a:r>
            <a:r>
              <a:rPr sz="24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uct.ac.za</a:t>
            </a:r>
            <a:r>
              <a:rPr sz="2400" b="1" i="0" u="none" cap="none">
                <a:solidFill>
                  <a:srgbClr val="00FF00"/>
                </a:solidFill>
                <a:latin typeface="Courier"/>
                <a:ea typeface="Courier"/>
                <a:cs typeface="Courier"/>
              </a:rPr>
              <a:t>'</a:t>
            </a:r>
          </a:p>
        </p:txBody>
      </p:sp>
    </p:spTree>
    <p:extLst>
      <p:ext uri="{BB962C8B-B14F-4D97-AF65-F5344CB8AC3E}">
        <p14:creationId xmlns:p14="http://schemas.microsoft.com/office/powerpoint/2010/main" val="242639490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3" name="Shape 373">
            <a:extLst xmlns:a="http://schemas.openxmlformats.org/drawingml/2006/main">
              <a:ext uri="{FF2B5EF4-FFF2-40B4-BE49-F238E27FC236}">
                <a16:creationId xmlns:a16="http://schemas.microsoft.com/office/drawing/2014/main" id="{786E6741-7144-4788-8236-03C06AAA68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0" u="none" cap="none">
                <a:solidFill>
                  <a:srgbClr val="FFD966"/>
                </a:solidFill>
                <a:latin typeface="Arial"/>
                <a:ea typeface="Arial"/>
                <a:cs typeface="Arial"/>
              </a:rPr>
              <a:t>List Summary</a:t>
            </a:r>
          </a:p>
        </p:txBody>
      </p:sp>
      <p:sp>
        <p:nvSpPr>
          <p:cNvPr id="375" name="Shape 375">
            <a:extLst xmlns:a="http://schemas.openxmlformats.org/drawingml/2006/main">
              <a:ext uri="{FF2B5EF4-FFF2-40B4-BE49-F238E27FC236}">
                <a16:creationId xmlns:a16="http://schemas.microsoft.com/office/drawing/2014/main" id="{DD3298A6-178A-4683-85E4-9F4B2B17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275" y="2733900"/>
            <a:ext cx="7450500" cy="511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marL="685800" indent="-394462">
              <a:spcBef>
                <a:spcPts val="0"/>
              </a:spcBef>
              <a:buChar char="•"/>
            </a:pPr>
            <a:r>
              <a:rPr sz="360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Concept of a collection</a:t>
            </a:r>
          </a:p>
          <a:p xmlns:a="http://schemas.openxmlformats.org/drawingml/2006/main">
            <a:pPr marL="685800" indent="-394462">
              <a:spcBef>
                <a:spcPts val="3500"/>
              </a:spcBef>
              <a:buChar char="•"/>
            </a:pPr>
            <a:r>
              <a:rPr sz="3600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Lists and for loops</a:t>
            </a:r>
          </a:p>
          <a:p xmlns:a="http://schemas.openxmlformats.org/drawingml/2006/main">
            <a:pPr marL="685800" indent="-394462">
              <a:spcBef>
                <a:spcPts val="3500"/>
              </a:spcBef>
              <a:buChar char="•"/>
            </a:pPr>
            <a:r>
              <a:rPr sz="3600">
                <a:solidFill>
                  <a:srgbClr val="FFFFFF"/>
                </a:solidFill>
                <a:latin typeface="Arial"/>
                <a:ea typeface="Arial"/>
                <a:cs typeface="Arial"/>
              </a:rPr>
              <a:t>Indexing and lookup</a:t>
            </a:r>
          </a:p>
          <a:p xmlns:a="http://schemas.openxmlformats.org/drawingml/2006/main">
            <a:pPr marL="685800" indent="-394462">
              <a:spcBef>
                <a:spcPts val="3500"/>
              </a:spcBef>
              <a:buChar char="•"/>
            </a:pPr>
            <a:r>
              <a:rPr sz="3600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 mutability</a:t>
            </a:r>
          </a:p>
          <a:p xmlns:a="http://schemas.openxmlformats.org/drawingml/2006/main">
            <a:pPr marL="685800" indent="-394462">
              <a:spcBef>
                <a:spcPts val="3500"/>
              </a:spcBef>
              <a:buChar char="•"/>
            </a:pPr>
            <a:r>
              <a:rPr sz="3600">
                <a:solidFill>
                  <a:srgbClr val="FFFFFF"/>
                </a:solidFill>
                <a:latin typeface="Arial"/>
                <a:ea typeface="Arial"/>
                <a:cs typeface="Arial"/>
              </a:rPr>
              <a:t>Built-in functions: len, min, max, sum</a:t>
            </a:r>
          </a:p>
        </p:txBody>
      </p:sp>
      <p:sp>
        <p:nvSpPr>
          <p:cNvPr id="376" name="Shape 376">
            <a:extLst xmlns:a="http://schemas.openxmlformats.org/drawingml/2006/main">
              <a:ext uri="{FF2B5EF4-FFF2-40B4-BE49-F238E27FC236}">
                <a16:creationId xmlns:a16="http://schemas.microsoft.com/office/drawing/2014/main" id="{A63D764E-B24A-4710-AA60-83CEC53E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2975" y="2733900"/>
            <a:ext cx="7565400" cy="511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marL="685800" indent="-394462">
              <a:spcBef>
                <a:spcPts val="3500"/>
              </a:spcBef>
              <a:buChar char="•"/>
            </a:pPr>
            <a:r>
              <a:rPr sz="3600">
                <a:solidFill>
                  <a:srgbClr val="FFFFFF"/>
                </a:solidFill>
                <a:latin typeface="Arial"/>
                <a:ea typeface="Arial"/>
                <a:cs typeface="Arial"/>
              </a:rPr>
              <a:t>Slicing lists</a:t>
            </a:r>
          </a:p>
          <a:p xmlns:a="http://schemas.openxmlformats.org/drawingml/2006/main">
            <a:pPr marL="685800" indent="-394462">
              <a:spcBef>
                <a:spcPts val="3500"/>
              </a:spcBef>
              <a:buChar char="•"/>
            </a:pPr>
            <a:r>
              <a:rPr sz="3600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 methods: append, remove, sort</a:t>
            </a:r>
          </a:p>
          <a:p xmlns:a="http://schemas.openxmlformats.org/drawingml/2006/main">
            <a:pPr marL="685800" indent="-394462">
              <a:spcBef>
                <a:spcPts val="3500"/>
              </a:spcBef>
              <a:buChar char="•"/>
            </a:pPr>
            <a:r>
              <a:rPr sz="3600">
                <a:solidFill>
                  <a:srgbClr val="FFFFFF"/>
                </a:solidFill>
                <a:latin typeface="Arial"/>
                <a:ea typeface="Arial"/>
                <a:cs typeface="Arial"/>
              </a:rPr>
              <a:t>Sorting lists</a:t>
            </a:r>
          </a:p>
          <a:p xmlns:a="http://schemas.openxmlformats.org/drawingml/2006/main">
            <a:pPr marL="685800" indent="-394462">
              <a:spcBef>
                <a:spcPts val="3500"/>
              </a:spcBef>
              <a:buChar char="•"/>
            </a:pPr>
            <a:r>
              <a:rPr sz="3600">
                <a:solidFill>
                  <a:srgbClr val="FFFFFF"/>
                </a:solidFill>
                <a:latin typeface="Arial"/>
                <a:ea typeface="Arial"/>
                <a:cs typeface="Arial"/>
              </a:rPr>
              <a:t>Splitting strings into lists of words</a:t>
            </a:r>
          </a:p>
          <a:p xmlns:a="http://schemas.openxmlformats.org/drawingml/2006/main">
            <a:pPr marL="685800" indent="-394462">
              <a:spcBef>
                <a:spcPts val="3500"/>
              </a:spcBef>
              <a:buChar char="•"/>
            </a:pPr>
            <a:r>
              <a:rPr sz="3600">
                <a:solidFill>
                  <a:srgbClr val="FFFFFF"/>
                </a:solidFill>
                <a:latin typeface="Arial"/>
                <a:ea typeface="Arial"/>
                <a:cs typeface="Arial"/>
              </a:rPr>
              <a:t>Using split to parse strings</a:t>
            </a:r>
          </a:p>
        </p:txBody>
      </p:sp>
    </p:spTree>
    <p:extLst>
      <p:ext uri="{BB962C8B-B14F-4D97-AF65-F5344CB8AC3E}">
        <p14:creationId xmlns:p14="http://schemas.microsoft.com/office/powerpoint/2010/main" val="411630305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1" name="Shape 381">
            <a:extLst xmlns:a="http://schemas.openxmlformats.org/drawingml/2006/main">
              <a:ext uri="{FF2B5EF4-FFF2-40B4-BE49-F238E27FC236}">
                <a16:creationId xmlns:a16="http://schemas.microsoft.com/office/drawing/2014/main" id="{94FEA70C-A423-459F-A1F7-C6A0AB08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700" y="1155705"/>
            <a:ext cx="13932000" cy="8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buNone/>
            </a:pPr>
            <a:r>
              <a:rPr sz="3600">
                <a:solidFill>
                  <a:srgbClr val="FFFF00"/>
                </a:solidFill>
              </a:rPr>
              <a:t>Acknowledgements / Contributions</a:t>
            </a:r>
          </a:p>
        </p:txBody>
      </p:sp>
      <p:sp>
        <p:nvSpPr>
          <p:cNvPr id="382" name="Shape 382">
            <a:extLst xmlns:a="http://schemas.openxmlformats.org/drawingml/2006/main">
              <a:ext uri="{FF2B5EF4-FFF2-40B4-BE49-F238E27FC236}">
                <a16:creationId xmlns:a16="http://schemas.microsoft.com/office/drawing/2014/main" id="{8F2F0514-B90E-46DE-B55B-A8C8F8BB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100" y="2296131"/>
            <a:ext cx="6797699" cy="5819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  <a:r>
              <a:rPr sz="1800">
                <a:solidFill>
                  <a:srgbClr val="FFFFFF"/>
                </a:solidFill>
              </a:rPr>
              <a:t>These slides are Copyright 2010-  Charles R. Severance (</a:t>
            </a:r>
            <a:r>
              <a:rPr sz="1800" u="sng">
                <a:solidFill>
                  <a:srgbClr val="FFFF00"/>
                </a:solidFill>
                <a:hlinkClick xmlns:r="http://schemas.openxmlformats.org/officeDocument/2006/relationships" r:id="Reef9cb0983ea4e43"/>
              </a:rPr>
              <a:t>www.dr-chuck.com</a:t>
            </a:r>
            <a:r>
              <a:rPr sz="1800">
                <a:solidFill>
                  <a:srgbClr val="FFFFFF"/>
                </a:solidFill>
              </a:rPr>
              <a:t>) of the University of Michigan School of Information and </a:t>
            </a:r>
            <a:r>
              <a:rPr sz="1800" u="sng">
                <a:solidFill>
                  <a:srgbClr val="FFFF00"/>
                </a:solidFill>
                <a:hlinkClick xmlns:r="http://schemas.openxmlformats.org/officeDocument/2006/relationships" r:id="R5148df119dfe4f52"/>
              </a:rPr>
              <a:t>open.umich.edu</a:t>
            </a:r>
            <a:r>
              <a:rPr sz="1800">
                <a:solidFill>
                  <a:srgbClr val="FFFFFF"/>
                </a:solidFill>
              </a:rPr>
              <a:t> and made available under a Creative Commons Attribution 4.0 License.  Please maintain this last slide in all copies of the document to comply with the attribution requirements of the license.  If you make a change, feel free to add your name and organization to the list of contributors on this page as you republish the materials.</a:t>
            </a:r>
          </a:p>
          <a:p xmlns:a="http://schemas.openxmlformats.org/drawingml/2006/main">
            <a:pPr>
              <a:spcBef>
                <a:spcPts val="0"/>
              </a:spcBef>
              <a:buNone/>
            </a:pPr>
          </a:p>
          <a:p xmlns:a="http://schemas.openxmlformats.org/drawingml/2006/main">
            <a:pPr>
              <a:spcBef>
                <a:spcPts val="0"/>
              </a:spcBef>
              <a:buNone/>
            </a:pPr>
            <a:r>
              <a:rPr sz="1800">
                <a:solidFill>
                  <a:srgbClr val="FFFFFF"/>
                </a:solidFill>
              </a:rPr>
              <a:t>Initial Development: Charles Severance, University of Michigan School of Information</a:t>
            </a:r>
          </a:p>
          <a:p xmlns:a="http://schemas.openxmlformats.org/drawingml/2006/main">
            <a:pPr>
              <a:spcBef>
                <a:spcPts val="0"/>
              </a:spcBef>
              <a:buNone/>
            </a:pPr>
          </a:p>
          <a:p xmlns:a="http://schemas.openxmlformats.org/drawingml/2006/main">
            <a:pPr>
              <a:spcBef>
                <a:spcPts val="0"/>
              </a:spcBef>
              <a:buNone/>
            </a:pPr>
            <a:r>
              <a:rPr sz="1800">
                <a:solidFill>
                  <a:srgbClr val="FFFFFF"/>
                </a:solidFill>
              </a:rPr>
              <a:t>… Insert new Contributors and Translators here</a:t>
            </a:r>
          </a:p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pic>
        <p:nvPicPr>
          <p:cNvPr id="390" name="Shape 38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3554ba1266d455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37900" y="1049055"/>
            <a:ext cx="1024800" cy="1024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91" name="Shape 38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49e263dfa6040d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3897687" y="1227255"/>
            <a:ext cx="1968599" cy="668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85" name="Shape 385">
            <a:extLst xmlns:a="http://schemas.openxmlformats.org/drawingml/2006/main">
              <a:ext uri="{FF2B5EF4-FFF2-40B4-BE49-F238E27FC236}">
                <a16:creationId xmlns:a16="http://schemas.microsoft.com/office/drawing/2014/main" id="{9F211607-9A50-4C6B-B4D2-02BA65FB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4400" y="2426605"/>
            <a:ext cx="6797699" cy="58172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  <a:r>
              <a:rPr sz="1800">
                <a:solidFill>
                  <a:srgbClr val="FFFFFF"/>
                </a:solidFill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853377095"/>
      </p:ext>
    </p:extLst>
  </p:cSld>
</p:sld>
</file>

<file path=ppt/theme/theme1.xml><?xml version="1.0" encoding="utf-8"?>
<a:theme xmlns:a="http://schemas.openxmlformats.org/drawingml/2006/main" name="Title &amp; Subtitle">
  <a:themeElements>
    <a:clrScheme name="ChatGPT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2026-07-22T22:32:24.1380000Z</dcterms:created>
  <dcterms:modified xsi:type="dcterms:W3CDTF">2026-07-22T22:32:24.1380000Z</dcterms:modified>
</coreProperties>
</file>